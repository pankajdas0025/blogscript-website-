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85" r:id="rId2"/>
    <p:sldId id="286" r:id="rId3"/>
    <p:sldId id="288" r:id="rId4"/>
    <p:sldId id="276" r:id="rId5"/>
    <p:sldId id="278" r:id="rId6"/>
    <p:sldId id="292" r:id="rId7"/>
    <p:sldId id="277" r:id="rId8"/>
    <p:sldId id="270" r:id="rId9"/>
    <p:sldId id="290" r:id="rId10"/>
    <p:sldId id="293" r:id="rId11"/>
    <p:sldId id="279" r:id="rId12"/>
    <p:sldId id="289" r:id="rId13"/>
    <p:sldId id="281" r:id="rId14"/>
    <p:sldId id="283" r:id="rId15"/>
    <p:sldId id="284" r:id="rId16"/>
    <p:sldId id="273"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p:cViewPr varScale="1">
        <p:scale>
          <a:sx n="77" d="100"/>
          <a:sy n="77" d="100"/>
        </p:scale>
        <p:origin x="1502" y="67"/>
      </p:cViewPr>
      <p:guideLst>
        <p:guide orient="horz" pos="2160"/>
        <p:guide pos="288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6CD895D-D788-4B08-93B3-B78EFB535739}" type="datetimeFigureOut">
              <a:rPr lang="en-IN" smtClean="0"/>
              <a:t>29-12-2025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5432714-8A85-4045-9756-8E58AB7B761B}" type="slidenum">
              <a:rPr lang="en-IN" smtClean="0"/>
              <a:t>‹#›</a:t>
            </a:fld>
            <a:endParaRPr lang="en-IN"/>
          </a:p>
        </p:txBody>
      </p:sp>
    </p:spTree>
    <p:extLst>
      <p:ext uri="{BB962C8B-B14F-4D97-AF65-F5344CB8AC3E}">
        <p14:creationId xmlns:p14="http://schemas.microsoft.com/office/powerpoint/2010/main" val="956134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2</a:t>
            </a:fld>
            <a:endParaRPr lang="en-US" dirty="0"/>
          </a:p>
        </p:txBody>
      </p:sp>
      <p:sp>
        <p:nvSpPr>
          <p:cNvPr id="521218" name="Rectangle 2"/>
          <p:cNvSpPr>
            <a:spLocks noGrp="1" noRot="1" noChangeAspect="1" noChangeArrowheads="1" noTextEdit="1"/>
          </p:cNvSpPr>
          <p:nvPr>
            <p:ph type="sldImg"/>
          </p:nvPr>
        </p:nvSpPr>
        <p:spPr>
          <a:ln/>
        </p:spPr>
        <p:txBody>
          <a:bodyPr/>
          <a:lstStyle/>
          <a:p>
            <a:endParaRPr lang="en-IN"/>
          </a:p>
        </p:txBody>
      </p:sp>
      <p:sp>
        <p:nvSpPr>
          <p:cNvPr id="52121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6924728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A07C6-4040-6440-6FBE-855727F76171}"/>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DF764592-F840-9B77-489D-94D0F3E0A779}"/>
              </a:ext>
            </a:extLst>
          </p:cNvPr>
          <p:cNvSpPr>
            <a:spLocks noGrp="1" noChangeArrowheads="1"/>
          </p:cNvSpPr>
          <p:nvPr>
            <p:ph type="sldNum" sz="quarter" idx="5"/>
          </p:nvPr>
        </p:nvSpPr>
        <p:spPr>
          <a:ln/>
        </p:spPr>
        <p:txBody>
          <a:bodyPr/>
          <a:lstStyle/>
          <a:p>
            <a:fld id="{1DECB7F0-34A5-4C70-97E9-77E6D8EC06C7}" type="slidenum">
              <a:rPr lang="en-US"/>
              <a:pPr/>
              <a:t>3</a:t>
            </a:fld>
            <a:endParaRPr lang="en-US"/>
          </a:p>
        </p:txBody>
      </p:sp>
      <p:sp>
        <p:nvSpPr>
          <p:cNvPr id="521218" name="Rectangle 2">
            <a:extLst>
              <a:ext uri="{FF2B5EF4-FFF2-40B4-BE49-F238E27FC236}">
                <a16:creationId xmlns:a16="http://schemas.microsoft.com/office/drawing/2014/main" id="{E59AB3BF-3968-2D7F-5C65-FA271F3CCF81}"/>
              </a:ext>
            </a:extLst>
          </p:cNvPr>
          <p:cNvSpPr>
            <a:spLocks noGrp="1" noRot="1" noChangeAspect="1" noChangeArrowheads="1" noTextEdit="1"/>
          </p:cNvSpPr>
          <p:nvPr>
            <p:ph type="sldImg"/>
          </p:nvPr>
        </p:nvSpPr>
        <p:spPr>
          <a:ln/>
        </p:spPr>
        <p:txBody>
          <a:bodyPr/>
          <a:lstStyle/>
          <a:p>
            <a:endParaRPr lang="en-IN"/>
          </a:p>
        </p:txBody>
      </p:sp>
      <p:sp>
        <p:nvSpPr>
          <p:cNvPr id="521219" name="Rectangle 3">
            <a:extLst>
              <a:ext uri="{FF2B5EF4-FFF2-40B4-BE49-F238E27FC236}">
                <a16:creationId xmlns:a16="http://schemas.microsoft.com/office/drawing/2014/main" id="{0BD13948-E8D3-E5C7-6EE5-E15B154423C8}"/>
              </a:ext>
            </a:extLst>
          </p:cNvPr>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653570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4</a:t>
            </a:fld>
            <a:endParaRPr lang="en-US"/>
          </a:p>
        </p:txBody>
      </p:sp>
      <p:sp>
        <p:nvSpPr>
          <p:cNvPr id="521218" name="Rectangle 2"/>
          <p:cNvSpPr>
            <a:spLocks noGrp="1" noRot="1" noChangeAspect="1" noChangeArrowheads="1" noTextEdit="1"/>
          </p:cNvSpPr>
          <p:nvPr>
            <p:ph type="sldImg"/>
          </p:nvPr>
        </p:nvSpPr>
        <p:spPr>
          <a:ln/>
        </p:spPr>
        <p:txBody>
          <a:bodyPr/>
          <a:lstStyle/>
          <a:p>
            <a:endParaRPr lang="en-IN"/>
          </a:p>
        </p:txBody>
      </p:sp>
      <p:sp>
        <p:nvSpPr>
          <p:cNvPr id="5212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5</a:t>
            </a:fld>
            <a:endParaRPr lang="en-US"/>
          </a:p>
        </p:txBody>
      </p:sp>
      <p:sp>
        <p:nvSpPr>
          <p:cNvPr id="521218" name="Rectangle 2"/>
          <p:cNvSpPr>
            <a:spLocks noGrp="1" noRot="1" noChangeAspect="1" noChangeArrowheads="1" noTextEdit="1"/>
          </p:cNvSpPr>
          <p:nvPr>
            <p:ph type="sldImg"/>
          </p:nvPr>
        </p:nvSpPr>
        <p:spPr>
          <a:ln/>
        </p:spPr>
        <p:txBody>
          <a:bodyPr/>
          <a:lstStyle/>
          <a:p>
            <a:endParaRPr lang="en-IN"/>
          </a:p>
        </p:txBody>
      </p:sp>
      <p:sp>
        <p:nvSpPr>
          <p:cNvPr id="5212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1BA48-AD9C-E50D-F093-39D6BBA4EFAC}"/>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BB74AB4C-4CBE-95AE-55DB-19B003C83DAC}"/>
              </a:ext>
            </a:extLst>
          </p:cNvPr>
          <p:cNvSpPr>
            <a:spLocks noGrp="1" noChangeArrowheads="1"/>
          </p:cNvSpPr>
          <p:nvPr>
            <p:ph type="sldNum" sz="quarter" idx="5"/>
          </p:nvPr>
        </p:nvSpPr>
        <p:spPr>
          <a:ln/>
        </p:spPr>
        <p:txBody>
          <a:bodyPr/>
          <a:lstStyle/>
          <a:p>
            <a:fld id="{1DECB7F0-34A5-4C70-97E9-77E6D8EC06C7}" type="slidenum">
              <a:rPr lang="en-US"/>
              <a:pPr/>
              <a:t>6</a:t>
            </a:fld>
            <a:endParaRPr lang="en-US"/>
          </a:p>
        </p:txBody>
      </p:sp>
      <p:sp>
        <p:nvSpPr>
          <p:cNvPr id="521218" name="Rectangle 2">
            <a:extLst>
              <a:ext uri="{FF2B5EF4-FFF2-40B4-BE49-F238E27FC236}">
                <a16:creationId xmlns:a16="http://schemas.microsoft.com/office/drawing/2014/main" id="{6967AD14-7D79-03D1-01D8-7202909D186C}"/>
              </a:ext>
            </a:extLst>
          </p:cNvPr>
          <p:cNvSpPr>
            <a:spLocks noGrp="1" noRot="1" noChangeAspect="1" noChangeArrowheads="1" noTextEdit="1"/>
          </p:cNvSpPr>
          <p:nvPr>
            <p:ph type="sldImg"/>
          </p:nvPr>
        </p:nvSpPr>
        <p:spPr>
          <a:ln/>
        </p:spPr>
        <p:txBody>
          <a:bodyPr/>
          <a:lstStyle/>
          <a:p>
            <a:endParaRPr lang="en-IN"/>
          </a:p>
        </p:txBody>
      </p:sp>
      <p:sp>
        <p:nvSpPr>
          <p:cNvPr id="521219" name="Rectangle 3">
            <a:extLst>
              <a:ext uri="{FF2B5EF4-FFF2-40B4-BE49-F238E27FC236}">
                <a16:creationId xmlns:a16="http://schemas.microsoft.com/office/drawing/2014/main" id="{CCBE6F73-1830-E3F9-5D83-864F9B7507DB}"/>
              </a:ext>
            </a:extLst>
          </p:cNvPr>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715219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7</a:t>
            </a:fld>
            <a:endParaRPr lang="en-US"/>
          </a:p>
        </p:txBody>
      </p:sp>
      <p:sp>
        <p:nvSpPr>
          <p:cNvPr id="521218" name="Rectangle 2"/>
          <p:cNvSpPr>
            <a:spLocks noGrp="1" noRot="1" noChangeAspect="1" noChangeArrowheads="1" noTextEdit="1"/>
          </p:cNvSpPr>
          <p:nvPr>
            <p:ph type="sldImg"/>
          </p:nvPr>
        </p:nvSpPr>
        <p:spPr>
          <a:ln/>
        </p:spPr>
        <p:txBody>
          <a:bodyPr/>
          <a:lstStyle/>
          <a:p>
            <a:endParaRPr lang="en-IN"/>
          </a:p>
        </p:txBody>
      </p:sp>
      <p:sp>
        <p:nvSpPr>
          <p:cNvPr id="5212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8</a:t>
            </a:fld>
            <a:endParaRPr lang="en-US"/>
          </a:p>
        </p:txBody>
      </p:sp>
      <p:sp>
        <p:nvSpPr>
          <p:cNvPr id="521218" name="Rectangle 2"/>
          <p:cNvSpPr>
            <a:spLocks noGrp="1" noRot="1" noChangeAspect="1" noChangeArrowheads="1" noTextEdit="1"/>
          </p:cNvSpPr>
          <p:nvPr>
            <p:ph type="sldImg"/>
          </p:nvPr>
        </p:nvSpPr>
        <p:spPr>
          <a:ln/>
        </p:spPr>
        <p:txBody>
          <a:bodyPr/>
          <a:lstStyle/>
          <a:p>
            <a:endParaRPr lang="en-IN"/>
          </a:p>
        </p:txBody>
      </p:sp>
      <p:sp>
        <p:nvSpPr>
          <p:cNvPr id="5212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1A046-68A2-FBAA-D962-08A9A14DA29B}"/>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1E86D990-F4AD-8B09-4746-462F9AFCAB18}"/>
              </a:ext>
            </a:extLst>
          </p:cNvPr>
          <p:cNvSpPr>
            <a:spLocks noGrp="1" noChangeArrowheads="1"/>
          </p:cNvSpPr>
          <p:nvPr>
            <p:ph type="sldNum" sz="quarter" idx="5"/>
          </p:nvPr>
        </p:nvSpPr>
        <p:spPr>
          <a:ln/>
        </p:spPr>
        <p:txBody>
          <a:bodyPr/>
          <a:lstStyle/>
          <a:p>
            <a:fld id="{1DECB7F0-34A5-4C70-97E9-77E6D8EC06C7}" type="slidenum">
              <a:rPr lang="en-US"/>
              <a:pPr/>
              <a:t>9</a:t>
            </a:fld>
            <a:endParaRPr lang="en-US"/>
          </a:p>
        </p:txBody>
      </p:sp>
      <p:sp>
        <p:nvSpPr>
          <p:cNvPr id="521218" name="Rectangle 2">
            <a:extLst>
              <a:ext uri="{FF2B5EF4-FFF2-40B4-BE49-F238E27FC236}">
                <a16:creationId xmlns:a16="http://schemas.microsoft.com/office/drawing/2014/main" id="{F55DF7E8-5665-6578-3A10-0F63DF8BD154}"/>
              </a:ext>
            </a:extLst>
          </p:cNvPr>
          <p:cNvSpPr>
            <a:spLocks noGrp="1" noRot="1" noChangeAspect="1" noChangeArrowheads="1" noTextEdit="1"/>
          </p:cNvSpPr>
          <p:nvPr>
            <p:ph type="sldImg"/>
          </p:nvPr>
        </p:nvSpPr>
        <p:spPr>
          <a:ln/>
        </p:spPr>
        <p:txBody>
          <a:bodyPr/>
          <a:lstStyle/>
          <a:p>
            <a:endParaRPr lang="en-IN"/>
          </a:p>
        </p:txBody>
      </p:sp>
      <p:sp>
        <p:nvSpPr>
          <p:cNvPr id="521219" name="Rectangle 3">
            <a:extLst>
              <a:ext uri="{FF2B5EF4-FFF2-40B4-BE49-F238E27FC236}">
                <a16:creationId xmlns:a16="http://schemas.microsoft.com/office/drawing/2014/main" id="{A8A27E18-036A-F20D-2ED4-64FD0B76755A}"/>
              </a:ext>
            </a:extLst>
          </p:cNvPr>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0062410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9414A-25D0-0952-B737-466A68379D8B}"/>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CAF7EEAE-7EF5-7186-74A7-0F22A6574EED}"/>
              </a:ext>
            </a:extLst>
          </p:cNvPr>
          <p:cNvSpPr>
            <a:spLocks noGrp="1" noChangeArrowheads="1"/>
          </p:cNvSpPr>
          <p:nvPr>
            <p:ph type="sldNum" sz="quarter" idx="5"/>
          </p:nvPr>
        </p:nvSpPr>
        <p:spPr>
          <a:ln/>
        </p:spPr>
        <p:txBody>
          <a:bodyPr/>
          <a:lstStyle/>
          <a:p>
            <a:fld id="{1DECB7F0-34A5-4C70-97E9-77E6D8EC06C7}" type="slidenum">
              <a:rPr lang="en-US"/>
              <a:pPr/>
              <a:t>10</a:t>
            </a:fld>
            <a:endParaRPr lang="en-US"/>
          </a:p>
        </p:txBody>
      </p:sp>
      <p:sp>
        <p:nvSpPr>
          <p:cNvPr id="521218" name="Rectangle 2">
            <a:extLst>
              <a:ext uri="{FF2B5EF4-FFF2-40B4-BE49-F238E27FC236}">
                <a16:creationId xmlns:a16="http://schemas.microsoft.com/office/drawing/2014/main" id="{5F86AE1F-37CE-51D1-0CE7-66B8EC919BEE}"/>
              </a:ext>
            </a:extLst>
          </p:cNvPr>
          <p:cNvSpPr>
            <a:spLocks noGrp="1" noRot="1" noChangeAspect="1" noChangeArrowheads="1" noTextEdit="1"/>
          </p:cNvSpPr>
          <p:nvPr>
            <p:ph type="sldImg"/>
          </p:nvPr>
        </p:nvSpPr>
        <p:spPr>
          <a:ln/>
        </p:spPr>
        <p:txBody>
          <a:bodyPr/>
          <a:lstStyle/>
          <a:p>
            <a:endParaRPr lang="en-IN"/>
          </a:p>
        </p:txBody>
      </p:sp>
      <p:sp>
        <p:nvSpPr>
          <p:cNvPr id="521219" name="Rectangle 3">
            <a:extLst>
              <a:ext uri="{FF2B5EF4-FFF2-40B4-BE49-F238E27FC236}">
                <a16:creationId xmlns:a16="http://schemas.microsoft.com/office/drawing/2014/main" id="{D663A53C-5DF1-3423-A26A-BFD64931DA6F}"/>
              </a:ext>
            </a:extLst>
          </p:cNvPr>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116957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11</a:t>
            </a:fld>
            <a:endParaRPr lang="en-US" dirty="0"/>
          </a:p>
        </p:txBody>
      </p:sp>
      <p:sp>
        <p:nvSpPr>
          <p:cNvPr id="521218" name="Rectangle 2"/>
          <p:cNvSpPr>
            <a:spLocks noGrp="1" noRot="1" noChangeAspect="1" noChangeArrowheads="1" noTextEdit="1"/>
          </p:cNvSpPr>
          <p:nvPr>
            <p:ph type="sldImg"/>
          </p:nvPr>
        </p:nvSpPr>
        <p:spPr>
          <a:ln/>
        </p:spPr>
        <p:txBody>
          <a:bodyPr/>
          <a:lstStyle/>
          <a:p>
            <a:endParaRPr lang="en-IN"/>
          </a:p>
        </p:txBody>
      </p:sp>
      <p:sp>
        <p:nvSpPr>
          <p:cNvPr id="521219"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92821-2CCC-AF38-AB5F-EAAE9C157B87}"/>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504DF4DB-908F-7971-85F5-A3FD9BC3D669}"/>
              </a:ext>
            </a:extLst>
          </p:cNvPr>
          <p:cNvSpPr>
            <a:spLocks noGrp="1" noChangeArrowheads="1"/>
          </p:cNvSpPr>
          <p:nvPr>
            <p:ph type="sldNum" sz="quarter" idx="5"/>
          </p:nvPr>
        </p:nvSpPr>
        <p:spPr>
          <a:ln/>
        </p:spPr>
        <p:txBody>
          <a:bodyPr/>
          <a:lstStyle/>
          <a:p>
            <a:fld id="{1DECB7F0-34A5-4C70-97E9-77E6D8EC06C7}" type="slidenum">
              <a:rPr lang="en-US"/>
              <a:pPr/>
              <a:t>12</a:t>
            </a:fld>
            <a:endParaRPr lang="en-US" dirty="0"/>
          </a:p>
        </p:txBody>
      </p:sp>
      <p:sp>
        <p:nvSpPr>
          <p:cNvPr id="521218" name="Rectangle 2">
            <a:extLst>
              <a:ext uri="{FF2B5EF4-FFF2-40B4-BE49-F238E27FC236}">
                <a16:creationId xmlns:a16="http://schemas.microsoft.com/office/drawing/2014/main" id="{FB416377-C879-4889-6CE6-57245540744F}"/>
              </a:ext>
            </a:extLst>
          </p:cNvPr>
          <p:cNvSpPr>
            <a:spLocks noGrp="1" noRot="1" noChangeAspect="1" noChangeArrowheads="1" noTextEdit="1"/>
          </p:cNvSpPr>
          <p:nvPr>
            <p:ph type="sldImg"/>
          </p:nvPr>
        </p:nvSpPr>
        <p:spPr>
          <a:ln/>
        </p:spPr>
        <p:txBody>
          <a:bodyPr/>
          <a:lstStyle/>
          <a:p>
            <a:endParaRPr lang="en-IN"/>
          </a:p>
        </p:txBody>
      </p:sp>
      <p:sp>
        <p:nvSpPr>
          <p:cNvPr id="521219" name="Rectangle 3">
            <a:extLst>
              <a:ext uri="{FF2B5EF4-FFF2-40B4-BE49-F238E27FC236}">
                <a16:creationId xmlns:a16="http://schemas.microsoft.com/office/drawing/2014/main" id="{323791D9-6D17-5BA8-912D-638A0B7CABC5}"/>
              </a:ext>
            </a:extLst>
          </p:cNvPr>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8802949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13</a:t>
            </a:fld>
            <a:endParaRPr lang="en-US"/>
          </a:p>
        </p:txBody>
      </p:sp>
      <p:sp>
        <p:nvSpPr>
          <p:cNvPr id="521218" name="Rectangle 2"/>
          <p:cNvSpPr>
            <a:spLocks noGrp="1" noRot="1" noChangeAspect="1" noChangeArrowheads="1" noTextEdit="1"/>
          </p:cNvSpPr>
          <p:nvPr>
            <p:ph type="sldImg"/>
          </p:nvPr>
        </p:nvSpPr>
        <p:spPr>
          <a:ln/>
        </p:spPr>
        <p:txBody>
          <a:bodyPr/>
          <a:lstStyle/>
          <a:p>
            <a:endParaRPr lang="en-IN"/>
          </a:p>
        </p:txBody>
      </p:sp>
      <p:sp>
        <p:nvSpPr>
          <p:cNvPr id="5212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14</a:t>
            </a:fld>
            <a:endParaRPr lang="en-US"/>
          </a:p>
        </p:txBody>
      </p:sp>
      <p:sp>
        <p:nvSpPr>
          <p:cNvPr id="521218" name="Rectangle 2"/>
          <p:cNvSpPr>
            <a:spLocks noGrp="1" noRot="1" noChangeAspect="1" noChangeArrowheads="1" noTextEdit="1"/>
          </p:cNvSpPr>
          <p:nvPr>
            <p:ph type="sldImg"/>
          </p:nvPr>
        </p:nvSpPr>
        <p:spPr>
          <a:ln/>
        </p:spPr>
        <p:txBody>
          <a:bodyPr/>
          <a:lstStyle/>
          <a:p>
            <a:endParaRPr lang="en-IN"/>
          </a:p>
        </p:txBody>
      </p:sp>
      <p:sp>
        <p:nvSpPr>
          <p:cNvPr id="5212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15</a:t>
            </a:fld>
            <a:endParaRPr lang="en-US"/>
          </a:p>
        </p:txBody>
      </p:sp>
      <p:sp>
        <p:nvSpPr>
          <p:cNvPr id="521218" name="Rectangle 2"/>
          <p:cNvSpPr>
            <a:spLocks noGrp="1" noRot="1" noChangeAspect="1" noChangeArrowheads="1" noTextEdit="1"/>
          </p:cNvSpPr>
          <p:nvPr>
            <p:ph type="sldImg"/>
          </p:nvPr>
        </p:nvSpPr>
        <p:spPr>
          <a:ln/>
        </p:spPr>
        <p:txBody>
          <a:bodyPr/>
          <a:lstStyle/>
          <a:p>
            <a:endParaRPr lang="en-IN"/>
          </a:p>
        </p:txBody>
      </p:sp>
      <p:sp>
        <p:nvSpPr>
          <p:cNvPr id="521219"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2655081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56" y="0"/>
            <a:ext cx="9147855" cy="548680"/>
          </a:xfrm>
        </p:spPr>
        <p:txBody>
          <a:bodyPr>
            <a:normAutofit/>
          </a:bodyPr>
          <a:lstStyle>
            <a:lvl1pPr algn="l">
              <a:defRPr sz="2800" b="1"/>
            </a:lvl1pPr>
          </a:lstStyle>
          <a:p>
            <a:r>
              <a:rPr lang="en-US"/>
              <a:t>Click to edit Master title style</a:t>
            </a:r>
            <a:endParaRPr lang="en-IN"/>
          </a:p>
        </p:txBody>
      </p:sp>
      <p:sp>
        <p:nvSpPr>
          <p:cNvPr id="3" name="Content Placeholder 2"/>
          <p:cNvSpPr>
            <a:spLocks noGrp="1"/>
          </p:cNvSpPr>
          <p:nvPr>
            <p:ph idx="1"/>
          </p:nvPr>
        </p:nvSpPr>
        <p:spPr>
          <a:xfrm>
            <a:off x="0" y="764704"/>
            <a:ext cx="9144000" cy="5400600"/>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p:cNvSpPr>
            <a:spLocks noGrp="1"/>
          </p:cNvSpPr>
          <p:nvPr>
            <p:ph type="sldNum" sz="quarter" idx="12"/>
          </p:nvPr>
        </p:nvSpPr>
        <p:spPr>
          <a:xfrm>
            <a:off x="0" y="6492064"/>
            <a:ext cx="395064" cy="365125"/>
          </a:xfrm>
        </p:spPr>
        <p:txBody>
          <a:bodyPr/>
          <a:lstStyle>
            <a:lvl1pPr algn="ctr">
              <a:defRPr/>
            </a:lvl1pPr>
          </a:lstStyle>
          <a:p>
            <a:fld id="{08FC1071-F2DF-4CA9-AA63-FF97A16BD739}" type="slidenum">
              <a:rPr lang="en-IN" smtClean="0"/>
              <a:pPr/>
              <a:t>‹#›</a:t>
            </a:fld>
            <a:endParaRPr lang="en-IN"/>
          </a:p>
        </p:txBody>
      </p:sp>
    </p:spTree>
    <p:extLst>
      <p:ext uri="{BB962C8B-B14F-4D97-AF65-F5344CB8AC3E}">
        <p14:creationId xmlns:p14="http://schemas.microsoft.com/office/powerpoint/2010/main" val="1321531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2055396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7" name="Slide Number Placeholder 6"/>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1095711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p>
            <a:endParaRPr lang="en-IN"/>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IN"/>
          </a:p>
        </p:txBody>
      </p:sp>
      <p:sp>
        <p:nvSpPr>
          <p:cNvPr id="9" name="Slide Number Placeholder 8"/>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1546919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IN"/>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IN"/>
          </a:p>
        </p:txBody>
      </p:sp>
      <p:sp>
        <p:nvSpPr>
          <p:cNvPr id="5" name="Slide Number Placeholder 4"/>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1615771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IN"/>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IN"/>
          </a:p>
        </p:txBody>
      </p:sp>
      <p:sp>
        <p:nvSpPr>
          <p:cNvPr id="4" name="Slide Number Placeholder 3"/>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4204856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7" name="Slide Number Placeholder 6"/>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1961854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7" name="Slide Number Placeholder 6"/>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3029271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3707677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1053088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676" y="8721"/>
            <a:ext cx="9163676" cy="490066"/>
          </a:xfrm>
          <a:prstGeom prst="rect">
            <a:avLst/>
          </a:prstGeom>
        </p:spPr>
        <p:txBody>
          <a:bodyPr vert="horz" lIns="91440" tIns="45720" rIns="91440" bIns="45720" rtlCol="0" anchor="ctr">
            <a:normAutofit/>
          </a:bodyPr>
          <a:lstStyle/>
          <a:p>
            <a:pPr lvl="0" algn="l"/>
            <a:r>
              <a:rPr lang="en-US"/>
              <a:t>Click to edit Master title style</a:t>
            </a:r>
            <a:endParaRPr lang="en-IN"/>
          </a:p>
        </p:txBody>
      </p:sp>
      <p:sp>
        <p:nvSpPr>
          <p:cNvPr id="3" name="Text Placeholder 2"/>
          <p:cNvSpPr>
            <a:spLocks noGrp="1"/>
          </p:cNvSpPr>
          <p:nvPr>
            <p:ph type="body" idx="1"/>
          </p:nvPr>
        </p:nvSpPr>
        <p:spPr>
          <a:xfrm>
            <a:off x="0" y="620688"/>
            <a:ext cx="9144000" cy="568863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Slide Number Placeholder 5"/>
          <p:cNvSpPr>
            <a:spLocks noGrp="1"/>
          </p:cNvSpPr>
          <p:nvPr>
            <p:ph type="sldNum" sz="quarter" idx="4"/>
          </p:nvPr>
        </p:nvSpPr>
        <p:spPr>
          <a:xfrm>
            <a:off x="0" y="6492875"/>
            <a:ext cx="46707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08FC1071-F2DF-4CA9-AA63-FF97A16BD739}" type="slidenum">
              <a:rPr lang="en-IN" smtClean="0"/>
              <a:pPr/>
              <a:t>‹#›</a:t>
            </a:fld>
            <a:endParaRPr lang="en-IN"/>
          </a:p>
        </p:txBody>
      </p:sp>
    </p:spTree>
    <p:extLst>
      <p:ext uri="{BB962C8B-B14F-4D97-AF65-F5344CB8AC3E}">
        <p14:creationId xmlns:p14="http://schemas.microsoft.com/office/powerpoint/2010/main" val="3888646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lang="en-IN" sz="2800" b="1" kern="1200" smtClean="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jpe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hyperlink" Target="https://blogscriptapp.free.nf/" TargetMode="External"/><Relationship Id="rId4" Type="http://schemas.openxmlformats.org/officeDocument/2006/relationships/image" Target="../media/image12.jpeg"/></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a:extLst>
              <a:ext uri="{FF2B5EF4-FFF2-40B4-BE49-F238E27FC236}">
                <a16:creationId xmlns:a16="http://schemas.microsoft.com/office/drawing/2014/main" id="{5764CCD8-1BB5-E240-D3C7-A3A9D604A682}"/>
              </a:ext>
            </a:extLst>
          </p:cNvPr>
          <p:cNvSpPr>
            <a:spLocks noChangeArrowheads="1"/>
          </p:cNvSpPr>
          <p:nvPr/>
        </p:nvSpPr>
        <p:spPr bwMode="auto">
          <a:xfrm>
            <a:off x="0" y="6058384"/>
            <a:ext cx="9144000" cy="79961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2" name="Title 1"/>
          <p:cNvSpPr>
            <a:spLocks noGrp="1"/>
          </p:cNvSpPr>
          <p:nvPr>
            <p:ph type="ctrTitle"/>
          </p:nvPr>
        </p:nvSpPr>
        <p:spPr>
          <a:xfrm>
            <a:off x="-84036" y="1154039"/>
            <a:ext cx="9144000" cy="2043631"/>
          </a:xfrm>
        </p:spPr>
        <p:txBody>
          <a:bodyPr>
            <a:normAutofit/>
          </a:bodyPr>
          <a:lstStyle/>
          <a:p>
            <a:pPr fontAlgn="base">
              <a:spcAft>
                <a:spcPct val="0"/>
              </a:spcAft>
            </a:pPr>
            <a:r>
              <a:rPr lang="en-IN" dirty="0"/>
              <a:t> </a:t>
            </a:r>
            <a:r>
              <a:rPr lang="en-US" dirty="0"/>
              <a:t>CRUD based Blog web application (BlogScript)</a:t>
            </a:r>
            <a:br>
              <a:rPr lang="en-IN" dirty="0"/>
            </a:br>
            <a:br>
              <a:rPr lang="en-US" sz="2000" dirty="0">
                <a:ea typeface="Droid Sans Fallback"/>
                <a:cs typeface="Times New Roman" pitchFamily="18" charset="0"/>
              </a:rPr>
            </a:br>
            <a:r>
              <a:rPr lang="en-IN" sz="2700" b="0" u="sng" dirty="0"/>
              <a:t>Summer Internship Report Presentation </a:t>
            </a:r>
            <a:br>
              <a:rPr lang="en-IN" dirty="0"/>
            </a:br>
            <a:br>
              <a:rPr lang="en-US" sz="2400" dirty="0">
                <a:ea typeface="Droid Sans Fallback"/>
                <a:cs typeface="Times New Roman" pitchFamily="18" charset="0"/>
              </a:rPr>
            </a:br>
            <a:r>
              <a:rPr lang="en-US" sz="2000" dirty="0">
                <a:latin typeface="Calibri" pitchFamily="34" charset="0"/>
                <a:ea typeface="Droid Sans Fallback"/>
                <a:cs typeface="Times New Roman" pitchFamily="18" charset="0"/>
              </a:rPr>
              <a:t>Date: 29/12/2025</a:t>
            </a:r>
            <a:endParaRPr lang="en-IN" sz="2000" dirty="0"/>
          </a:p>
        </p:txBody>
      </p:sp>
      <p:sp>
        <p:nvSpPr>
          <p:cNvPr id="5" name="Rectangle 4"/>
          <p:cNvSpPr/>
          <p:nvPr/>
        </p:nvSpPr>
        <p:spPr>
          <a:xfrm>
            <a:off x="2003687" y="3097336"/>
            <a:ext cx="4968552" cy="144016"/>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dirty="0"/>
          </a:p>
        </p:txBody>
      </p:sp>
      <p:sp>
        <p:nvSpPr>
          <p:cNvPr id="3" name="Rectangle 2"/>
          <p:cNvSpPr/>
          <p:nvPr/>
        </p:nvSpPr>
        <p:spPr>
          <a:xfrm>
            <a:off x="827584" y="6146555"/>
            <a:ext cx="7848872" cy="646331"/>
          </a:xfrm>
          <a:prstGeom prst="rect">
            <a:avLst/>
          </a:prstGeom>
        </p:spPr>
        <p:txBody>
          <a:bodyPr wrap="square">
            <a:spAutoFit/>
          </a:bodyPr>
          <a:lstStyle/>
          <a:p>
            <a:pPr lvl="0" algn="ctr" eaLnBrk="0" fontAlgn="base" hangingPunct="0">
              <a:spcBef>
                <a:spcPct val="0"/>
              </a:spcBef>
              <a:spcAft>
                <a:spcPct val="0"/>
              </a:spcAft>
            </a:pPr>
            <a:r>
              <a:rPr lang="en-US" dirty="0">
                <a:solidFill>
                  <a:schemeClr val="bg1"/>
                </a:solidFill>
                <a:latin typeface="Calibri" pitchFamily="34" charset="0"/>
                <a:ea typeface="Droid Sans Fallback"/>
                <a:cs typeface="Calibri" pitchFamily="34" charset="0"/>
              </a:rPr>
              <a:t>COLLEGE OF COMPUTING SCIENCE &amp; INFORMATION TECHNOLOGY</a:t>
            </a:r>
          </a:p>
          <a:p>
            <a:pPr lvl="0" algn="ctr" eaLnBrk="0" fontAlgn="base" hangingPunct="0">
              <a:spcBef>
                <a:spcPct val="0"/>
              </a:spcBef>
              <a:spcAft>
                <a:spcPct val="0"/>
              </a:spcAft>
            </a:pPr>
            <a:r>
              <a:rPr lang="en-US" dirty="0">
                <a:solidFill>
                  <a:schemeClr val="bg1"/>
                </a:solidFill>
                <a:latin typeface="Calibri" pitchFamily="34" charset="0"/>
                <a:ea typeface="Droid Sans Fallback"/>
                <a:cs typeface="Calibri" pitchFamily="34" charset="0"/>
              </a:rPr>
              <a:t>TEERTHANKER MAHAVEER UNIVERSITY, MORADABAD</a:t>
            </a:r>
            <a:endParaRPr lang="en-US" dirty="0">
              <a:solidFill>
                <a:schemeClr val="bg1"/>
              </a:solidFill>
              <a:latin typeface="Arial" pitchFamily="34" charset="0"/>
              <a:ea typeface="Droid Sans Fallback"/>
              <a:cs typeface="Calibri" pitchFamily="34" charset="0"/>
            </a:endParaRPr>
          </a:p>
        </p:txBody>
      </p:sp>
      <p:pic>
        <p:nvPicPr>
          <p:cNvPr id="7" name="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9889" y="237215"/>
            <a:ext cx="1056146" cy="931894"/>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6222833" y="4407178"/>
            <a:ext cx="4572000" cy="1477328"/>
          </a:xfrm>
          <a:prstGeom prst="rect">
            <a:avLst/>
          </a:prstGeom>
        </p:spPr>
        <p:txBody>
          <a:bodyPr>
            <a:spAutoFit/>
          </a:bodyPr>
          <a:lstStyle/>
          <a:p>
            <a:pPr lvl="0" eaLnBrk="0" fontAlgn="base" hangingPunct="0">
              <a:spcBef>
                <a:spcPct val="0"/>
              </a:spcBef>
              <a:spcAft>
                <a:spcPct val="0"/>
              </a:spcAft>
            </a:pPr>
            <a:r>
              <a:rPr lang="en-US" b="1" u="sng" dirty="0">
                <a:latin typeface="Calibri" pitchFamily="34" charset="0"/>
                <a:ea typeface="Droid Sans Fallback"/>
                <a:cs typeface="Times New Roman" pitchFamily="18" charset="0"/>
              </a:rPr>
              <a:t>Team Members</a:t>
            </a:r>
          </a:p>
          <a:p>
            <a:pPr lvl="0" eaLnBrk="0" fontAlgn="base" hangingPunct="0">
              <a:spcBef>
                <a:spcPct val="0"/>
              </a:spcBef>
              <a:spcAft>
                <a:spcPct val="0"/>
              </a:spcAft>
            </a:pPr>
            <a:r>
              <a:rPr lang="en-US" u="sng" dirty="0">
                <a:latin typeface="Calibri" pitchFamily="34" charset="0"/>
                <a:ea typeface="Droid Sans Fallback"/>
                <a:cs typeface="Times New Roman" pitchFamily="18" charset="0"/>
              </a:rPr>
              <a:t>Pankaj Kumar Das</a:t>
            </a:r>
          </a:p>
          <a:p>
            <a:pPr lvl="0" eaLnBrk="0" fontAlgn="base" hangingPunct="0">
              <a:spcBef>
                <a:spcPct val="0"/>
              </a:spcBef>
              <a:spcAft>
                <a:spcPct val="0"/>
              </a:spcAft>
            </a:pPr>
            <a:r>
              <a:rPr lang="en-US" u="sng" dirty="0">
                <a:latin typeface="Calibri" pitchFamily="34" charset="0"/>
                <a:ea typeface="Droid Sans Fallback"/>
                <a:cs typeface="Times New Roman" pitchFamily="18" charset="0"/>
              </a:rPr>
              <a:t>Rahul Kumar Senuhar</a:t>
            </a:r>
          </a:p>
          <a:p>
            <a:pPr lvl="0" eaLnBrk="0" fontAlgn="base" hangingPunct="0">
              <a:spcBef>
                <a:spcPct val="0"/>
              </a:spcBef>
              <a:spcAft>
                <a:spcPct val="0"/>
              </a:spcAft>
            </a:pPr>
            <a:r>
              <a:rPr lang="en-US" u="sng" dirty="0">
                <a:latin typeface="Calibri" pitchFamily="34" charset="0"/>
                <a:ea typeface="Droid Sans Fallback"/>
                <a:cs typeface="Times New Roman" pitchFamily="18" charset="0"/>
              </a:rPr>
              <a:t>Banty Mishra</a:t>
            </a:r>
          </a:p>
          <a:p>
            <a:pPr lvl="0" eaLnBrk="0" fontAlgn="base" hangingPunct="0">
              <a:spcBef>
                <a:spcPct val="0"/>
              </a:spcBef>
              <a:spcAft>
                <a:spcPct val="0"/>
              </a:spcAft>
            </a:pPr>
            <a:r>
              <a:rPr lang="en-US" u="sng" dirty="0">
                <a:latin typeface="Calibri" pitchFamily="34" charset="0"/>
                <a:ea typeface="Droid Sans Fallback"/>
                <a:cs typeface="Times New Roman" pitchFamily="18" charset="0"/>
              </a:rPr>
              <a:t>Course: BCA (5th Sem)</a:t>
            </a:r>
          </a:p>
        </p:txBody>
      </p:sp>
      <p:sp>
        <p:nvSpPr>
          <p:cNvPr id="9" name="Rectangle 8"/>
          <p:cNvSpPr/>
          <p:nvPr/>
        </p:nvSpPr>
        <p:spPr>
          <a:xfrm>
            <a:off x="611560" y="4607244"/>
            <a:ext cx="3740195" cy="1200329"/>
          </a:xfrm>
          <a:prstGeom prst="rect">
            <a:avLst/>
          </a:prstGeom>
        </p:spPr>
        <p:txBody>
          <a:bodyPr wrap="square">
            <a:spAutoFit/>
          </a:bodyPr>
          <a:lstStyle/>
          <a:p>
            <a:pPr lvl="0" eaLnBrk="0" fontAlgn="base" hangingPunct="0">
              <a:spcBef>
                <a:spcPct val="0"/>
              </a:spcBef>
              <a:spcAft>
                <a:spcPct val="0"/>
              </a:spcAft>
            </a:pPr>
            <a:r>
              <a:rPr lang="en-US" b="1" u="sng" dirty="0">
                <a:latin typeface="Calibri" pitchFamily="34" charset="0"/>
                <a:ea typeface="Droid Sans Fallback"/>
                <a:cs typeface="Times New Roman" pitchFamily="18" charset="0"/>
              </a:rPr>
              <a:t>Project Guide:</a:t>
            </a:r>
          </a:p>
          <a:p>
            <a:pPr lvl="0" eaLnBrk="0" fontAlgn="base" hangingPunct="0">
              <a:spcBef>
                <a:spcPct val="0"/>
              </a:spcBef>
              <a:spcAft>
                <a:spcPct val="0"/>
              </a:spcAft>
            </a:pPr>
            <a:r>
              <a:rPr lang="en-US" u="sng" dirty="0">
                <a:latin typeface="Calibri" pitchFamily="34" charset="0"/>
                <a:cs typeface="Times New Roman" pitchFamily="18" charset="0"/>
              </a:rPr>
              <a:t>Mr. Nitin Kumar Saini</a:t>
            </a:r>
          </a:p>
          <a:p>
            <a:pPr lvl="0" eaLnBrk="0" fontAlgn="base" hangingPunct="0">
              <a:spcBef>
                <a:spcPct val="0"/>
              </a:spcBef>
              <a:spcAft>
                <a:spcPct val="0"/>
              </a:spcAft>
            </a:pPr>
            <a:r>
              <a:rPr lang="en-US" u="sng" dirty="0">
                <a:latin typeface="Calibri" pitchFamily="34" charset="0"/>
                <a:cs typeface="Times New Roman" pitchFamily="18" charset="0"/>
              </a:rPr>
              <a:t>&amp;</a:t>
            </a:r>
          </a:p>
          <a:p>
            <a:pPr lvl="0" eaLnBrk="0" fontAlgn="base" hangingPunct="0">
              <a:spcBef>
                <a:spcPct val="0"/>
              </a:spcBef>
              <a:spcAft>
                <a:spcPct val="0"/>
              </a:spcAft>
            </a:pPr>
            <a:r>
              <a:rPr lang="en-US" u="sng" dirty="0">
                <a:latin typeface="Calibri" pitchFamily="34" charset="0"/>
                <a:cs typeface="Times New Roman" pitchFamily="18" charset="0"/>
              </a:rPr>
              <a:t>Ms. </a:t>
            </a:r>
            <a:r>
              <a:rPr lang="en-US" u="sng">
                <a:latin typeface="Calibri" pitchFamily="34" charset="0"/>
                <a:cs typeface="Times New Roman" pitchFamily="18" charset="0"/>
              </a:rPr>
              <a:t>Vratika </a:t>
            </a:r>
            <a:r>
              <a:rPr lang="en-US" u="sng" dirty="0">
                <a:latin typeface="Calibri" pitchFamily="34" charset="0"/>
                <a:cs typeface="Times New Roman" pitchFamily="18" charset="0"/>
              </a:rPr>
              <a:t>Gupta</a:t>
            </a:r>
          </a:p>
        </p:txBody>
      </p:sp>
      <p:sp>
        <p:nvSpPr>
          <p:cNvPr id="10" name="Rectangle 9"/>
          <p:cNvSpPr/>
          <p:nvPr/>
        </p:nvSpPr>
        <p:spPr>
          <a:xfrm>
            <a:off x="467092" y="3513202"/>
            <a:ext cx="8041741" cy="707886"/>
          </a:xfrm>
          <a:prstGeom prst="rect">
            <a:avLst/>
          </a:prstGeom>
        </p:spPr>
        <p:txBody>
          <a:bodyPr wrap="square">
            <a:spAutoFit/>
          </a:bodyPr>
          <a:lstStyle/>
          <a:p>
            <a:pPr algn="ctr" eaLnBrk="0" fontAlgn="base" hangingPunct="0">
              <a:spcBef>
                <a:spcPct val="0"/>
              </a:spcBef>
              <a:spcAft>
                <a:spcPct val="0"/>
              </a:spcAft>
            </a:pPr>
            <a:r>
              <a:rPr lang="en-US" sz="2000" b="1" dirty="0">
                <a:latin typeface="Arial" pitchFamily="34" charset="0"/>
                <a:cs typeface="Arial" pitchFamily="34" charset="0"/>
              </a:rPr>
              <a:t>BCASI23501</a:t>
            </a:r>
          </a:p>
          <a:p>
            <a:pPr lvl="0" algn="ctr" eaLnBrk="0" fontAlgn="base" hangingPunct="0">
              <a:spcBef>
                <a:spcPct val="0"/>
              </a:spcBef>
              <a:spcAft>
                <a:spcPct val="0"/>
              </a:spcAft>
            </a:pPr>
            <a:r>
              <a:rPr lang="en-US" sz="2000" b="1" dirty="0">
                <a:latin typeface="Calibri" pitchFamily="34" charset="0"/>
                <a:ea typeface="Droid Sans Fallback"/>
                <a:cs typeface="Times New Roman" pitchFamily="18" charset="0"/>
              </a:rPr>
              <a:t>Degree: BCA</a:t>
            </a:r>
            <a:endParaRPr lang="en-US" sz="2000" b="1" dirty="0">
              <a:solidFill>
                <a:srgbClr val="FF0000"/>
              </a:solidFill>
              <a:latin typeface="Arial" pitchFamily="34" charset="0"/>
              <a:cs typeface="Arial" pitchFamily="34" charset="0"/>
            </a:endParaRPr>
          </a:p>
        </p:txBody>
      </p:sp>
    </p:spTree>
    <p:extLst>
      <p:ext uri="{BB962C8B-B14F-4D97-AF65-F5344CB8AC3E}">
        <p14:creationId xmlns:p14="http://schemas.microsoft.com/office/powerpoint/2010/main" val="3644287393"/>
      </p:ext>
    </p:extLst>
  </p:cSld>
  <p:clrMapOvr>
    <a:masterClrMapping/>
  </p:clrMapOvr>
  <mc:AlternateContent xmlns:mc="http://schemas.openxmlformats.org/markup-compatibility/2006" xmlns:p14="http://schemas.microsoft.com/office/powerpoint/2010/main">
    <mc:Choice Requires="p14">
      <p:transition p14:dur="250">
        <p:push dir="u"/>
      </p:transition>
    </mc:Choice>
    <mc:Fallback xmlns="">
      <p:transition>
        <p:push dir="u"/>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dirty="0"/>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2</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6886" y="82877"/>
            <a:ext cx="2992005" cy="694917"/>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2</a:t>
            </a:fld>
            <a:endParaRPr lang="en-IN" dirty="0">
              <a:solidFill>
                <a:schemeClr val="bg1"/>
              </a:solidFill>
            </a:endParaRPr>
          </a:p>
        </p:txBody>
      </p:sp>
      <p:sp>
        <p:nvSpPr>
          <p:cNvPr id="5" name="Text Box 5">
            <a:extLst>
              <a:ext uri="{FF2B5EF4-FFF2-40B4-BE49-F238E27FC236}">
                <a16:creationId xmlns:a16="http://schemas.microsoft.com/office/drawing/2014/main" id="{E3B12784-358C-C2B3-9F54-8D9CA60B1BB1}"/>
              </a:ext>
            </a:extLst>
          </p:cNvPr>
          <p:cNvSpPr txBox="1">
            <a:spLocks noChangeArrowheads="1"/>
          </p:cNvSpPr>
          <p:nvPr/>
        </p:nvSpPr>
        <p:spPr bwMode="auto">
          <a:xfrm>
            <a:off x="386882" y="199502"/>
            <a:ext cx="617271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spcBef>
                <a:spcPct val="50000"/>
              </a:spcBef>
              <a:defRPr sz="2400" b="1">
                <a:solidFill>
                  <a:schemeClr val="bg1"/>
                </a:solidFill>
                <a:latin typeface="Calibri" pitchFamily="34" charset="0"/>
                <a:ea typeface="ＭＳ Ｐゴシック" pitchFamily="-28" charset="-128"/>
              </a:defRPr>
            </a:lvl1pPr>
          </a:lstStyle>
          <a:p>
            <a:r>
              <a:rPr lang="en-IN" dirty="0"/>
              <a:t>Team Details</a:t>
            </a:r>
          </a:p>
          <a:p>
            <a:endParaRPr lang="en-US" dirty="0"/>
          </a:p>
        </p:txBody>
      </p:sp>
      <p:graphicFrame>
        <p:nvGraphicFramePr>
          <p:cNvPr id="4" name="Table 3">
            <a:extLst>
              <a:ext uri="{FF2B5EF4-FFF2-40B4-BE49-F238E27FC236}">
                <a16:creationId xmlns:a16="http://schemas.microsoft.com/office/drawing/2014/main" id="{D46B6DDC-7743-C47E-6D77-7F584F598063}"/>
              </a:ext>
            </a:extLst>
          </p:cNvPr>
          <p:cNvGraphicFramePr>
            <a:graphicFrameLocks noGrp="1"/>
          </p:cNvGraphicFramePr>
          <p:nvPr>
            <p:extLst>
              <p:ext uri="{D42A27DB-BD31-4B8C-83A1-F6EECF244321}">
                <p14:modId xmlns:p14="http://schemas.microsoft.com/office/powerpoint/2010/main" val="1945661079"/>
              </p:ext>
            </p:extLst>
          </p:nvPr>
        </p:nvGraphicFramePr>
        <p:xfrm>
          <a:off x="624504" y="1464195"/>
          <a:ext cx="7475888" cy="3769206"/>
        </p:xfrm>
        <a:graphic>
          <a:graphicData uri="http://schemas.openxmlformats.org/drawingml/2006/table">
            <a:tbl>
              <a:tblPr firstRow="1" bandRow="1">
                <a:tableStyleId>{21E4AEA4-8DFA-4A89-87EB-49C32662AFE0}</a:tableStyleId>
              </a:tblPr>
              <a:tblGrid>
                <a:gridCol w="2705447">
                  <a:extLst>
                    <a:ext uri="{9D8B030D-6E8A-4147-A177-3AD203B41FA5}">
                      <a16:colId xmlns:a16="http://schemas.microsoft.com/office/drawing/2014/main" val="910580425"/>
                    </a:ext>
                  </a:extLst>
                </a:gridCol>
                <a:gridCol w="1540560">
                  <a:extLst>
                    <a:ext uri="{9D8B030D-6E8A-4147-A177-3AD203B41FA5}">
                      <a16:colId xmlns:a16="http://schemas.microsoft.com/office/drawing/2014/main" val="3395761699"/>
                    </a:ext>
                  </a:extLst>
                </a:gridCol>
                <a:gridCol w="3229881">
                  <a:extLst>
                    <a:ext uri="{9D8B030D-6E8A-4147-A177-3AD203B41FA5}">
                      <a16:colId xmlns:a16="http://schemas.microsoft.com/office/drawing/2014/main" val="4288414226"/>
                    </a:ext>
                  </a:extLst>
                </a:gridCol>
              </a:tblGrid>
              <a:tr h="8138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Name</a:t>
                      </a:r>
                      <a:endParaRPr lang="en-IN" dirty="0"/>
                    </a:p>
                    <a:p>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Enrollment</a:t>
                      </a:r>
                      <a:endParaRPr lang="en-IN" dirty="0"/>
                    </a:p>
                    <a:p>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Role</a:t>
                      </a:r>
                      <a:endParaRPr lang="en-IN" dirty="0"/>
                    </a:p>
                    <a:p>
                      <a:endParaRPr lang="en-IN" dirty="0"/>
                    </a:p>
                  </a:txBody>
                  <a:tcPr/>
                </a:tc>
                <a:extLst>
                  <a:ext uri="{0D108BD9-81ED-4DB2-BD59-A6C34878D82A}">
                    <a16:rowId xmlns:a16="http://schemas.microsoft.com/office/drawing/2014/main" val="2097744911"/>
                  </a:ext>
                </a:extLst>
              </a:tr>
              <a:tr h="8522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RAHUL KUMAR SENUHAR</a:t>
                      </a:r>
                      <a:endParaRPr lang="en-IN" dirty="0"/>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TCA2301558</a:t>
                      </a:r>
                      <a:endParaRPr lang="en-IN" dirty="0"/>
                    </a:p>
                    <a:p>
                      <a:endParaRPr lang="en-IN" dirty="0"/>
                    </a:p>
                  </a:txBody>
                  <a:tcPr/>
                </a:tc>
                <a:tc>
                  <a:txBody>
                    <a:bodyPr/>
                    <a:lstStyle/>
                    <a:p>
                      <a:pPr marL="285750" indent="-285750">
                        <a:buFont typeface="Arial" panose="020B0604020202020204" pitchFamily="34" charset="0"/>
                        <a:buChar char="•"/>
                      </a:pPr>
                      <a:r>
                        <a:rPr lang="en-US" dirty="0"/>
                        <a:t>Frontend Developer</a:t>
                      </a:r>
                    </a:p>
                  </a:txBody>
                  <a:tcPr/>
                </a:tc>
                <a:extLst>
                  <a:ext uri="{0D108BD9-81ED-4DB2-BD59-A6C34878D82A}">
                    <a16:rowId xmlns:a16="http://schemas.microsoft.com/office/drawing/2014/main" val="3338131697"/>
                  </a:ext>
                </a:extLst>
              </a:tr>
              <a:tr h="1410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PANKAJ KUMAR DAS </a:t>
                      </a:r>
                      <a:endParaRPr lang="en-IN" dirty="0"/>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TCA2301489</a:t>
                      </a:r>
                      <a:endParaRPr lang="en-IN" dirty="0"/>
                    </a:p>
                    <a:p>
                      <a:endParaRPr lang="en-IN" dirty="0"/>
                    </a:p>
                  </a:txBody>
                  <a:tcPr/>
                </a:tc>
                <a:tc>
                  <a:txBody>
                    <a:bodyPr/>
                    <a:lstStyle/>
                    <a:p>
                      <a:pPr marL="285750" indent="-285750">
                        <a:buFont typeface="Arial" panose="020B0604020202020204" pitchFamily="34" charset="0"/>
                        <a:buChar char="•"/>
                      </a:pPr>
                      <a:r>
                        <a:rPr lang="en-US" dirty="0"/>
                        <a:t>Backend Developer</a:t>
                      </a:r>
                    </a:p>
                    <a:p>
                      <a:pPr marL="285750" indent="-285750">
                        <a:buFont typeface="Arial" panose="020B0604020202020204" pitchFamily="34" charset="0"/>
                        <a:buChar char="•"/>
                      </a:pPr>
                      <a:r>
                        <a:rPr lang="en-US" dirty="0"/>
                        <a:t>Testing &amp; Debugging</a:t>
                      </a:r>
                    </a:p>
                    <a:p>
                      <a:pPr marL="285750" indent="-285750">
                        <a:buFont typeface="Arial" panose="020B0604020202020204" pitchFamily="34" charset="0"/>
                        <a:buChar char="•"/>
                      </a:pPr>
                      <a:r>
                        <a:rPr lang="en-US" dirty="0"/>
                        <a:t>Hosting &amp; </a:t>
                      </a:r>
                      <a:r>
                        <a:rPr lang="en-IN" dirty="0"/>
                        <a:t>Deployment</a:t>
                      </a:r>
                      <a:endParaRPr lang="en-US" dirty="0"/>
                    </a:p>
                    <a:p>
                      <a:r>
                        <a:rPr lang="en-US" dirty="0"/>
                        <a:t> </a:t>
                      </a:r>
                    </a:p>
                    <a:p>
                      <a:endParaRPr lang="en-IN" dirty="0"/>
                    </a:p>
                  </a:txBody>
                  <a:tcPr/>
                </a:tc>
                <a:extLst>
                  <a:ext uri="{0D108BD9-81ED-4DB2-BD59-A6C34878D82A}">
                    <a16:rowId xmlns:a16="http://schemas.microsoft.com/office/drawing/2014/main" val="2682169662"/>
                  </a:ext>
                </a:extLst>
              </a:tr>
              <a:tr h="616886">
                <a:tc>
                  <a:txBody>
                    <a:bodyPr/>
                    <a:lstStyle/>
                    <a:p>
                      <a:r>
                        <a:rPr lang="en-US" dirty="0"/>
                        <a:t>Banty Mishra</a:t>
                      </a:r>
                      <a:endParaRPr lang="en-IN" dirty="0"/>
                    </a:p>
                  </a:txBody>
                  <a:tcPr/>
                </a:tc>
                <a:tc>
                  <a:txBody>
                    <a:bodyPr/>
                    <a:lstStyle/>
                    <a:p>
                      <a:r>
                        <a:rPr lang="en-US" dirty="0"/>
                        <a:t>TCA2301154</a:t>
                      </a:r>
                      <a:endParaRPr lang="en-IN" dirty="0"/>
                    </a:p>
                  </a:txBody>
                  <a:tcPr/>
                </a:tc>
                <a:tc>
                  <a:txBody>
                    <a:bodyPr/>
                    <a:lstStyle/>
                    <a:p>
                      <a:r>
                        <a:rPr lang="en-IN" dirty="0"/>
                        <a:t>Content Writer / Manage Pending Blogs </a:t>
                      </a:r>
                    </a:p>
                  </a:txBody>
                  <a:tcPr/>
                </a:tc>
                <a:extLst>
                  <a:ext uri="{0D108BD9-81ED-4DB2-BD59-A6C34878D82A}">
                    <a16:rowId xmlns:a16="http://schemas.microsoft.com/office/drawing/2014/main" val="2374792973"/>
                  </a:ext>
                </a:extLst>
              </a:tr>
            </a:tbl>
          </a:graphicData>
        </a:graphic>
      </p:graphicFrame>
    </p:spTree>
    <p:extLst>
      <p:ext uri="{BB962C8B-B14F-4D97-AF65-F5344CB8AC3E}">
        <p14:creationId xmlns:p14="http://schemas.microsoft.com/office/powerpoint/2010/main" val="1134713695"/>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FACCA-380D-45FD-6046-CA13061E019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0AED990-AFFB-B73A-EAE1-EEE7941B16FE}"/>
              </a:ext>
            </a:extLst>
          </p:cNvPr>
          <p:cNvSpPr>
            <a:spLocks noGrp="1"/>
          </p:cNvSpPr>
          <p:nvPr>
            <p:ph type="title"/>
          </p:nvPr>
        </p:nvSpPr>
        <p:spPr/>
        <p:txBody>
          <a:bodyPr/>
          <a:lstStyle/>
          <a:p>
            <a:endParaRPr lang="en-IN" dirty="0"/>
          </a:p>
        </p:txBody>
      </p:sp>
      <p:sp>
        <p:nvSpPr>
          <p:cNvPr id="2" name="Slide Number Placeholder 1">
            <a:extLst>
              <a:ext uri="{FF2B5EF4-FFF2-40B4-BE49-F238E27FC236}">
                <a16:creationId xmlns:a16="http://schemas.microsoft.com/office/drawing/2014/main" id="{ED3D2F9B-C714-2467-0928-12E7DBB9B6CF}"/>
              </a:ext>
            </a:extLst>
          </p:cNvPr>
          <p:cNvSpPr>
            <a:spLocks noGrp="1"/>
          </p:cNvSpPr>
          <p:nvPr>
            <p:ph type="sldNum" sz="quarter" idx="12"/>
          </p:nvPr>
        </p:nvSpPr>
        <p:spPr/>
        <p:txBody>
          <a:bodyPr/>
          <a:lstStyle/>
          <a:p>
            <a:fld id="{08FC1071-F2DF-4CA9-AA63-FF97A16BD739}" type="slidenum">
              <a:rPr lang="en-IN" smtClean="0">
                <a:solidFill>
                  <a:schemeClr val="bg1"/>
                </a:solidFill>
              </a:rPr>
              <a:pPr/>
              <a:t>3</a:t>
            </a:fld>
            <a:endParaRPr lang="en-IN" dirty="0">
              <a:solidFill>
                <a:schemeClr val="bg1"/>
              </a:solidFill>
            </a:endParaRPr>
          </a:p>
        </p:txBody>
      </p:sp>
      <p:sp>
        <p:nvSpPr>
          <p:cNvPr id="485380" name="Rectangle 4">
            <a:extLst>
              <a:ext uri="{FF2B5EF4-FFF2-40B4-BE49-F238E27FC236}">
                <a16:creationId xmlns:a16="http://schemas.microsoft.com/office/drawing/2014/main" id="{3DF6A3C0-A094-CA2F-FD3B-4C0F77B3B13D}"/>
              </a:ext>
            </a:extLst>
          </p:cNvPr>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4" name="Rectangle 8">
            <a:extLst>
              <a:ext uri="{FF2B5EF4-FFF2-40B4-BE49-F238E27FC236}">
                <a16:creationId xmlns:a16="http://schemas.microsoft.com/office/drawing/2014/main" id="{2F73113D-3EC4-348C-2CEA-766C425F0738}"/>
              </a:ext>
            </a:extLst>
          </p:cNvPr>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a:extLst>
              <a:ext uri="{FF2B5EF4-FFF2-40B4-BE49-F238E27FC236}">
                <a16:creationId xmlns:a16="http://schemas.microsoft.com/office/drawing/2014/main" id="{F4CD0EBB-52B6-087D-4BFA-B385FD27CF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6886" y="82877"/>
            <a:ext cx="2992005" cy="694917"/>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a:extLst>
              <a:ext uri="{FF2B5EF4-FFF2-40B4-BE49-F238E27FC236}">
                <a16:creationId xmlns:a16="http://schemas.microsoft.com/office/drawing/2014/main" id="{436E1B3C-F076-6094-3840-39AAE46C5D78}"/>
              </a:ext>
            </a:extLst>
          </p:cNvPr>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3</a:t>
            </a:fld>
            <a:endParaRPr lang="en-IN" dirty="0">
              <a:solidFill>
                <a:schemeClr val="bg1"/>
              </a:solidFill>
            </a:endParaRPr>
          </a:p>
        </p:txBody>
      </p:sp>
      <p:sp>
        <p:nvSpPr>
          <p:cNvPr id="5" name="Text Box 5">
            <a:extLst>
              <a:ext uri="{FF2B5EF4-FFF2-40B4-BE49-F238E27FC236}">
                <a16:creationId xmlns:a16="http://schemas.microsoft.com/office/drawing/2014/main" id="{425BA0D2-E36A-D25C-968E-A65988053056}"/>
              </a:ext>
            </a:extLst>
          </p:cNvPr>
          <p:cNvSpPr txBox="1">
            <a:spLocks noChangeArrowheads="1"/>
          </p:cNvSpPr>
          <p:nvPr/>
        </p:nvSpPr>
        <p:spPr bwMode="auto">
          <a:xfrm>
            <a:off x="386882" y="199502"/>
            <a:ext cx="617271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spcBef>
                <a:spcPct val="50000"/>
              </a:spcBef>
              <a:defRPr sz="2400" b="1">
                <a:solidFill>
                  <a:schemeClr val="bg1"/>
                </a:solidFill>
                <a:latin typeface="Calibri" pitchFamily="34" charset="0"/>
                <a:ea typeface="ＭＳ Ｐゴシック" pitchFamily="-28" charset="-128"/>
              </a:defRPr>
            </a:lvl1pPr>
          </a:lstStyle>
          <a:p>
            <a:r>
              <a:rPr lang="en-IN" dirty="0"/>
              <a:t>Table of Contents</a:t>
            </a:r>
          </a:p>
          <a:p>
            <a:endParaRPr lang="en-US" dirty="0"/>
          </a:p>
        </p:txBody>
      </p:sp>
      <p:sp>
        <p:nvSpPr>
          <p:cNvPr id="7" name="TextBox 6">
            <a:extLst>
              <a:ext uri="{FF2B5EF4-FFF2-40B4-BE49-F238E27FC236}">
                <a16:creationId xmlns:a16="http://schemas.microsoft.com/office/drawing/2014/main" id="{7A52D6A7-8C75-2308-F011-5B4D33106F6D}"/>
              </a:ext>
            </a:extLst>
          </p:cNvPr>
          <p:cNvSpPr txBox="1"/>
          <p:nvPr/>
        </p:nvSpPr>
        <p:spPr>
          <a:xfrm>
            <a:off x="547734" y="1154925"/>
            <a:ext cx="7768682" cy="5439951"/>
          </a:xfrm>
          <a:prstGeom prst="rect">
            <a:avLst/>
          </a:prstGeom>
          <a:noFill/>
        </p:spPr>
        <p:txBody>
          <a:bodyPr wrap="square" rtlCol="0">
            <a:spAutoFit/>
          </a:bodyPr>
          <a:lstStyle/>
          <a:p>
            <a:pPr marL="342900" lvl="0" indent="-342900">
              <a:lnSpc>
                <a:spcPct val="200000"/>
              </a:lnSpc>
              <a:spcBef>
                <a:spcPts val="2100"/>
              </a:spcBef>
              <a:buClr>
                <a:srgbClr val="0D0D0D"/>
              </a:buClr>
              <a:buSzPts val="1200"/>
              <a:buFont typeface="+mj-lt"/>
              <a:buAutoNum type="arabicPeriod"/>
            </a:pPr>
            <a:r>
              <a:rPr lang="en-IN" sz="1600" dirty="0">
                <a:solidFill>
                  <a:srgbClr val="000000"/>
                </a:solidFill>
                <a:ea typeface="Roboto" panose="02000000000000000000" pitchFamily="2" charset="0"/>
                <a:cs typeface="Roboto" panose="02000000000000000000" pitchFamily="2" charset="0"/>
              </a:rPr>
              <a:t>Project Brief Introduction</a:t>
            </a:r>
            <a:endParaRPr lang="en-IN" sz="1400" u="none" strike="noStrike" dirty="0">
              <a:solidFill>
                <a:srgbClr val="000000"/>
              </a:solidFill>
              <a:effectLst/>
              <a:ea typeface="Roboto" panose="02000000000000000000" pitchFamily="2" charset="0"/>
              <a:cs typeface="Roboto" panose="02000000000000000000" pitchFamily="2" charset="0"/>
            </a:endParaRPr>
          </a:p>
          <a:p>
            <a:pPr marL="342900" lvl="0" indent="-342900">
              <a:lnSpc>
                <a:spcPct val="200000"/>
              </a:lnSpc>
              <a:buClr>
                <a:srgbClr val="0D0D0D"/>
              </a:buClr>
              <a:buSzPts val="1200"/>
              <a:buFont typeface="+mj-lt"/>
              <a:buAutoNum type="arabicPeriod"/>
            </a:pPr>
            <a:r>
              <a:rPr lang="en-US" sz="1600" u="none" strike="noStrike" dirty="0">
                <a:solidFill>
                  <a:srgbClr val="000000"/>
                </a:solidFill>
                <a:effectLst/>
                <a:ea typeface="Roboto" panose="02000000000000000000" pitchFamily="2" charset="0"/>
                <a:cs typeface="Roboto" panose="02000000000000000000" pitchFamily="2" charset="0"/>
              </a:rPr>
              <a:t>Methodologies/ Technologies/ Tools to be used</a:t>
            </a:r>
            <a:endParaRPr lang="en-IN" sz="1400" u="none" strike="noStrike" dirty="0">
              <a:solidFill>
                <a:srgbClr val="000000"/>
              </a:solidFill>
              <a:effectLst/>
              <a:ea typeface="Roboto" panose="02000000000000000000" pitchFamily="2" charset="0"/>
              <a:cs typeface="Roboto" panose="02000000000000000000" pitchFamily="2" charset="0"/>
            </a:endParaRPr>
          </a:p>
          <a:p>
            <a:pPr marL="342900" lvl="0" indent="-342900">
              <a:lnSpc>
                <a:spcPct val="200000"/>
              </a:lnSpc>
              <a:buClr>
                <a:srgbClr val="0D0D0D"/>
              </a:buClr>
              <a:buSzPts val="1200"/>
              <a:buFont typeface="+mj-lt"/>
              <a:buAutoNum type="arabicPeriod"/>
            </a:pPr>
            <a:r>
              <a:rPr lang="en-IN" sz="1600" u="none" strike="noStrike" dirty="0">
                <a:solidFill>
                  <a:srgbClr val="000000"/>
                </a:solidFill>
                <a:effectLst/>
                <a:ea typeface="Roboto" panose="02000000000000000000" pitchFamily="2" charset="0"/>
                <a:cs typeface="Roboto" panose="02000000000000000000" pitchFamily="2" charset="0"/>
              </a:rPr>
              <a:t>Internship Duties</a:t>
            </a:r>
            <a:endParaRPr lang="en-IN" sz="1400" u="none" strike="noStrike" dirty="0">
              <a:solidFill>
                <a:srgbClr val="000000"/>
              </a:solidFill>
              <a:effectLst/>
              <a:ea typeface="Roboto" panose="02000000000000000000" pitchFamily="2" charset="0"/>
              <a:cs typeface="Roboto" panose="02000000000000000000" pitchFamily="2" charset="0"/>
            </a:endParaRPr>
          </a:p>
          <a:p>
            <a:pPr marL="342900" lvl="0" indent="-342900">
              <a:lnSpc>
                <a:spcPct val="200000"/>
              </a:lnSpc>
              <a:buClr>
                <a:srgbClr val="0D0D0D"/>
              </a:buClr>
              <a:buSzPts val="1200"/>
              <a:buFont typeface="+mj-lt"/>
              <a:buAutoNum type="arabicPeriod"/>
            </a:pPr>
            <a:r>
              <a:rPr lang="en-IN" sz="1600" dirty="0">
                <a:solidFill>
                  <a:srgbClr val="000000"/>
                </a:solidFill>
                <a:ea typeface="Roboto" panose="02000000000000000000" pitchFamily="2" charset="0"/>
                <a:cs typeface="Roboto" panose="02000000000000000000" pitchFamily="2" charset="0"/>
              </a:rPr>
              <a:t>Context Diagram (Overall Project)</a:t>
            </a:r>
          </a:p>
          <a:p>
            <a:pPr marL="342900" lvl="0" indent="-342900">
              <a:lnSpc>
                <a:spcPct val="200000"/>
              </a:lnSpc>
              <a:buClr>
                <a:srgbClr val="0D0D0D"/>
              </a:buClr>
              <a:buSzPts val="1200"/>
              <a:buFont typeface="+mj-lt"/>
              <a:buAutoNum type="arabicPeriod"/>
            </a:pPr>
            <a:r>
              <a:rPr lang="en-IN" sz="1400" u="none" strike="noStrike" dirty="0">
                <a:solidFill>
                  <a:srgbClr val="000000"/>
                </a:solidFill>
                <a:effectLst/>
                <a:ea typeface="Roboto" panose="02000000000000000000" pitchFamily="2" charset="0"/>
                <a:cs typeface="Roboto" panose="02000000000000000000" pitchFamily="2" charset="0"/>
              </a:rPr>
              <a:t>ER Diagrams</a:t>
            </a:r>
          </a:p>
          <a:p>
            <a:pPr marL="342900" lvl="0" indent="-342900">
              <a:lnSpc>
                <a:spcPct val="200000"/>
              </a:lnSpc>
              <a:buClr>
                <a:srgbClr val="0D0D0D"/>
              </a:buClr>
              <a:buSzPts val="1200"/>
              <a:buFont typeface="+mj-lt"/>
              <a:buAutoNum type="arabicPeriod"/>
            </a:pPr>
            <a:r>
              <a:rPr lang="en-IN" sz="1400" dirty="0">
                <a:solidFill>
                  <a:srgbClr val="000000"/>
                </a:solidFill>
                <a:ea typeface="Roboto" panose="02000000000000000000" pitchFamily="2" charset="0"/>
                <a:cs typeface="Roboto" panose="02000000000000000000" pitchFamily="2" charset="0"/>
              </a:rPr>
              <a:t>DD Diagrams</a:t>
            </a:r>
            <a:endParaRPr lang="en-IN" sz="1400" u="none" strike="noStrike" dirty="0">
              <a:solidFill>
                <a:srgbClr val="000000"/>
              </a:solidFill>
              <a:effectLst/>
              <a:ea typeface="Roboto" panose="02000000000000000000" pitchFamily="2" charset="0"/>
              <a:cs typeface="Roboto" panose="02000000000000000000" pitchFamily="2" charset="0"/>
            </a:endParaRPr>
          </a:p>
          <a:p>
            <a:pPr marL="342900" lvl="0" indent="-342900">
              <a:lnSpc>
                <a:spcPct val="200000"/>
              </a:lnSpc>
              <a:buClr>
                <a:srgbClr val="0D0D0D"/>
              </a:buClr>
              <a:buSzPts val="1200"/>
              <a:buFont typeface="+mj-lt"/>
              <a:buAutoNum type="arabicPeriod"/>
            </a:pPr>
            <a:r>
              <a:rPr lang="en-IN" sz="1600" u="none" strike="noStrike" dirty="0">
                <a:solidFill>
                  <a:srgbClr val="000000"/>
                </a:solidFill>
                <a:effectLst/>
                <a:ea typeface="Roboto" panose="02000000000000000000" pitchFamily="2" charset="0"/>
                <a:cs typeface="Roboto" panose="02000000000000000000" pitchFamily="2" charset="0"/>
              </a:rPr>
              <a:t>Challenges Encountered</a:t>
            </a:r>
          </a:p>
          <a:p>
            <a:pPr marL="342900" lvl="0" indent="-342900">
              <a:lnSpc>
                <a:spcPct val="200000"/>
              </a:lnSpc>
              <a:buClr>
                <a:srgbClr val="0D0D0D"/>
              </a:buClr>
              <a:buSzPts val="1200"/>
              <a:buFont typeface="+mj-lt"/>
              <a:buAutoNum type="arabicPeriod"/>
            </a:pPr>
            <a:r>
              <a:rPr lang="en-IN" sz="1600" u="none" strike="noStrike" dirty="0">
                <a:solidFill>
                  <a:srgbClr val="000000"/>
                </a:solidFill>
                <a:effectLst/>
                <a:ea typeface="Roboto" panose="02000000000000000000" pitchFamily="2" charset="0"/>
                <a:cs typeface="Roboto" panose="02000000000000000000" pitchFamily="2" charset="0"/>
              </a:rPr>
              <a:t>Advantage of The Project</a:t>
            </a:r>
            <a:endParaRPr lang="en-IN" sz="1400" u="none" strike="noStrike" dirty="0">
              <a:solidFill>
                <a:srgbClr val="000000"/>
              </a:solidFill>
              <a:effectLst/>
              <a:ea typeface="Roboto" panose="02000000000000000000" pitchFamily="2" charset="0"/>
              <a:cs typeface="Roboto" panose="02000000000000000000" pitchFamily="2" charset="0"/>
            </a:endParaRPr>
          </a:p>
          <a:p>
            <a:pPr marL="342900" lvl="0" indent="-342900">
              <a:lnSpc>
                <a:spcPct val="200000"/>
              </a:lnSpc>
              <a:buClr>
                <a:srgbClr val="0D0D0D"/>
              </a:buClr>
              <a:buSzPts val="1200"/>
              <a:buFont typeface="+mj-lt"/>
              <a:buAutoNum type="arabicPeriod"/>
            </a:pPr>
            <a:r>
              <a:rPr lang="en-IN" sz="1600" u="none" strike="noStrike" dirty="0">
                <a:solidFill>
                  <a:srgbClr val="000000"/>
                </a:solidFill>
                <a:effectLst/>
                <a:ea typeface="Roboto" panose="02000000000000000000" pitchFamily="2" charset="0"/>
                <a:cs typeface="Roboto" panose="02000000000000000000" pitchFamily="2" charset="0"/>
              </a:rPr>
              <a:t>Summary and Conclusion</a:t>
            </a:r>
            <a:endParaRPr lang="en-IN" sz="1400" u="none" strike="noStrike" dirty="0">
              <a:solidFill>
                <a:srgbClr val="000000"/>
              </a:solidFill>
              <a:effectLst/>
              <a:ea typeface="Roboto" panose="02000000000000000000" pitchFamily="2" charset="0"/>
              <a:cs typeface="Roboto" panose="02000000000000000000" pitchFamily="2" charset="0"/>
            </a:endParaRPr>
          </a:p>
          <a:p>
            <a:pPr marL="342900" lvl="0" indent="-342900">
              <a:lnSpc>
                <a:spcPct val="200000"/>
              </a:lnSpc>
              <a:spcAft>
                <a:spcPts val="2100"/>
              </a:spcAft>
              <a:buClr>
                <a:srgbClr val="0D0D0D"/>
              </a:buClr>
              <a:buSzPts val="1200"/>
              <a:buFont typeface="+mj-lt"/>
              <a:buAutoNum type="arabicPeriod"/>
            </a:pPr>
            <a:r>
              <a:rPr lang="en-IN" sz="1600" u="none" strike="noStrike" dirty="0">
                <a:solidFill>
                  <a:srgbClr val="000000"/>
                </a:solidFill>
                <a:effectLst/>
                <a:ea typeface="Roboto" panose="02000000000000000000" pitchFamily="2" charset="0"/>
                <a:cs typeface="Roboto" panose="02000000000000000000" pitchFamily="2" charset="0"/>
              </a:rPr>
              <a:t>Appendices</a:t>
            </a:r>
            <a:endParaRPr lang="en-IN" sz="1400" u="none" strike="noStrike" dirty="0">
              <a:solidFill>
                <a:srgbClr val="000000"/>
              </a:solidFill>
              <a:effectLst/>
              <a:ea typeface="Roboto" panose="02000000000000000000" pitchFamily="2" charset="0"/>
              <a:cs typeface="Roboto" panose="02000000000000000000" pitchFamily="2" charset="0"/>
            </a:endParaRPr>
          </a:p>
          <a:p>
            <a:endParaRPr lang="en-IN" dirty="0"/>
          </a:p>
        </p:txBody>
      </p:sp>
    </p:spTree>
    <p:extLst>
      <p:ext uri="{BB962C8B-B14F-4D97-AF65-F5344CB8AC3E}">
        <p14:creationId xmlns:p14="http://schemas.microsoft.com/office/powerpoint/2010/main" val="4046273351"/>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5" name="Content Placeholder 4"/>
          <p:cNvSpPr>
            <a:spLocks noGrp="1"/>
          </p:cNvSpPr>
          <p:nvPr>
            <p:ph idx="1"/>
          </p:nvPr>
        </p:nvSpPr>
        <p:spPr>
          <a:xfrm>
            <a:off x="395064" y="1360705"/>
            <a:ext cx="8281392" cy="4438879"/>
          </a:xfrm>
        </p:spPr>
        <p:txBody>
          <a:bodyPr>
            <a:normAutofit/>
          </a:bodyPr>
          <a:lstStyle/>
          <a:p>
            <a:pPr marL="0" indent="0">
              <a:buNone/>
            </a:pPr>
            <a:r>
              <a:rPr lang="en-IN" sz="2000" dirty="0"/>
              <a:t>BlogScript is a </a:t>
            </a:r>
            <a:r>
              <a:rPr lang="en-IN" sz="2000" b="1" dirty="0"/>
              <a:t>CRUD-based web application</a:t>
            </a:r>
            <a:r>
              <a:rPr lang="en-IN" sz="2000" dirty="0"/>
              <a:t> developed to provide blogging enthusiasts with a simple, secure, and user-friendly platform for sharing their ideas, thoughts, and knowledge. The primary goal of BlogScript is to make content creation and management easy for users who may not have advanced technical skills, while still maintaining a professional and structured system in the background.</a:t>
            </a:r>
          </a:p>
          <a:p>
            <a:pPr marL="0" indent="0">
              <a:buNone/>
            </a:pPr>
            <a:r>
              <a:rPr lang="en-IN" sz="2000" dirty="0"/>
              <a:t>The platform enables users to </a:t>
            </a:r>
            <a:r>
              <a:rPr lang="en-IN" sz="2000" b="1" dirty="0"/>
              <a:t>register and create personal accounts</a:t>
            </a:r>
            <a:r>
              <a:rPr lang="en-IN" sz="2000" dirty="0"/>
              <a:t>, allowing each user to manage their own blog content securely. Once logged in, users can create new blog posts, edit existing posts, update content as needed, and delete posts they no longer wish to publish. These core CRUD (Create, Read, Update, Delete) operations form the backbone of the application and ensure efficient content management.</a:t>
            </a:r>
          </a:p>
          <a:p>
            <a:pPr marL="0" indent="0">
              <a:buNone/>
            </a:pPr>
            <a:endParaRPr lang="en-IN" sz="2000" dirty="0"/>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4</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5381" name="Text Box 5"/>
          <p:cNvSpPr txBox="1">
            <a:spLocks noChangeArrowheads="1"/>
          </p:cNvSpPr>
          <p:nvPr/>
        </p:nvSpPr>
        <p:spPr bwMode="auto">
          <a:xfrm>
            <a:off x="395064" y="174144"/>
            <a:ext cx="617271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spcBef>
                <a:spcPct val="50000"/>
              </a:spcBef>
              <a:defRPr sz="2400" b="1">
                <a:solidFill>
                  <a:schemeClr val="bg1"/>
                </a:solidFill>
                <a:latin typeface="Calibri" pitchFamily="34" charset="0"/>
                <a:ea typeface="ＭＳ Ｐゴシック" pitchFamily="-28" charset="-128"/>
              </a:defRPr>
            </a:lvl1pPr>
          </a:lstStyle>
          <a:p>
            <a:r>
              <a:rPr lang="en-IN" dirty="0"/>
              <a:t>1. </a:t>
            </a:r>
            <a:r>
              <a:rPr lang="en-US" dirty="0"/>
              <a:t>Project Brief</a:t>
            </a:r>
          </a:p>
          <a:p>
            <a:endParaRPr lang="en-IN" dirty="0"/>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4</a:t>
            </a:fld>
            <a:endParaRPr lang="en-IN" dirty="0">
              <a:solidFill>
                <a:schemeClr val="bg1"/>
              </a:solidFill>
            </a:endParaRPr>
          </a:p>
        </p:txBody>
      </p:sp>
    </p:spTree>
    <p:extLst>
      <p:ext uri="{BB962C8B-B14F-4D97-AF65-F5344CB8AC3E}">
        <p14:creationId xmlns:p14="http://schemas.microsoft.com/office/powerpoint/2010/main" val="1809597272"/>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5</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5381" name="Text Box 5"/>
          <p:cNvSpPr txBox="1">
            <a:spLocks noChangeArrowheads="1"/>
          </p:cNvSpPr>
          <p:nvPr/>
        </p:nvSpPr>
        <p:spPr bwMode="auto">
          <a:xfrm>
            <a:off x="197532" y="218365"/>
            <a:ext cx="574262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000" b="1" dirty="0">
                <a:solidFill>
                  <a:schemeClr val="bg1"/>
                </a:solidFill>
                <a:latin typeface="Calibri" pitchFamily="34" charset="0"/>
                <a:ea typeface="ＭＳ Ｐゴシック" pitchFamily="-28" charset="-128"/>
              </a:rPr>
              <a:t>2. Methodologies/ Technologies/ Tools to be used</a:t>
            </a:r>
          </a:p>
          <a:p>
            <a:endParaRPr lang="en-US" sz="2000" b="1" dirty="0">
              <a:solidFill>
                <a:schemeClr val="bg1"/>
              </a:solidFill>
              <a:latin typeface="Calibri" pitchFamily="34" charset="0"/>
              <a:ea typeface="ＭＳ Ｐゴシック" pitchFamily="-28" charset="-128"/>
            </a:endParaRP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5</a:t>
            </a:fld>
            <a:endParaRPr lang="en-IN" dirty="0">
              <a:solidFill>
                <a:schemeClr val="bg1"/>
              </a:solidFill>
            </a:endParaRPr>
          </a:p>
        </p:txBody>
      </p:sp>
      <p:sp>
        <p:nvSpPr>
          <p:cNvPr id="4" name="TextBox 3">
            <a:extLst>
              <a:ext uri="{FF2B5EF4-FFF2-40B4-BE49-F238E27FC236}">
                <a16:creationId xmlns:a16="http://schemas.microsoft.com/office/drawing/2014/main" id="{25B6DFFB-72A2-B7BF-9046-31910AA06173}"/>
              </a:ext>
            </a:extLst>
          </p:cNvPr>
          <p:cNvSpPr txBox="1"/>
          <p:nvPr/>
        </p:nvSpPr>
        <p:spPr>
          <a:xfrm>
            <a:off x="467072" y="985341"/>
            <a:ext cx="6997013" cy="4585871"/>
          </a:xfrm>
          <a:prstGeom prst="rect">
            <a:avLst/>
          </a:prstGeom>
          <a:noFill/>
        </p:spPr>
        <p:txBody>
          <a:bodyPr wrap="square" rtlCol="0">
            <a:spAutoFit/>
          </a:bodyPr>
          <a:lstStyle/>
          <a:p>
            <a:r>
              <a:rPr lang="en-IN" b="1" u="sng" dirty="0"/>
              <a:t>Step 1: Requirement Analysis</a:t>
            </a:r>
          </a:p>
          <a:p>
            <a:r>
              <a:rPr lang="en-IN" dirty="0"/>
              <a:t>Identified core features: user authentication, blog post management, and email verification.</a:t>
            </a:r>
          </a:p>
          <a:p>
            <a:endParaRPr lang="en-IN" sz="500" b="1" dirty="0"/>
          </a:p>
          <a:p>
            <a:r>
              <a:rPr lang="en-IN" b="1" dirty="0"/>
              <a:t> </a:t>
            </a:r>
            <a:r>
              <a:rPr lang="en-IN" b="1" u="sng" dirty="0"/>
              <a:t>Step 2: System Design</a:t>
            </a:r>
          </a:p>
          <a:p>
            <a:pPr lvl="0"/>
            <a:r>
              <a:rPr lang="en-IN" dirty="0"/>
              <a:t>Designed the </a:t>
            </a:r>
            <a:r>
              <a:rPr lang="en-IN" b="1" dirty="0"/>
              <a:t>database schema</a:t>
            </a:r>
            <a:r>
              <a:rPr lang="en-IN" dirty="0"/>
              <a:t> with users and posts tables.</a:t>
            </a:r>
          </a:p>
          <a:p>
            <a:pPr lvl="0"/>
            <a:r>
              <a:rPr lang="en-IN" dirty="0"/>
              <a:t>Designed responsive frontend layouts for signup, login, dashboard, and post pages.</a:t>
            </a:r>
          </a:p>
          <a:p>
            <a:endParaRPr lang="en-IN" sz="600" dirty="0"/>
          </a:p>
          <a:p>
            <a:r>
              <a:rPr lang="en-US" dirty="0"/>
              <a:t> </a:t>
            </a:r>
            <a:r>
              <a:rPr lang="en-IN" b="1" u="sng" dirty="0"/>
              <a:t>Step 3: Backend Development</a:t>
            </a:r>
          </a:p>
          <a:p>
            <a:r>
              <a:rPr lang="en-IN" dirty="0"/>
              <a:t>Implemented </a:t>
            </a:r>
            <a:r>
              <a:rPr lang="en-IN" b="1" dirty="0"/>
              <a:t>User Authentication</a:t>
            </a:r>
            <a:r>
              <a:rPr lang="en-IN" dirty="0"/>
              <a:t> (signup, login, password hashing). </a:t>
            </a:r>
          </a:p>
          <a:p>
            <a:r>
              <a:rPr lang="en-IN" b="1" u="sng" dirty="0"/>
              <a:t> Step 4: Frontend Development</a:t>
            </a:r>
          </a:p>
          <a:p>
            <a:r>
              <a:rPr lang="en-IN" dirty="0"/>
              <a:t>Built responsive UI using </a:t>
            </a:r>
            <a:r>
              <a:rPr lang="en-IN" b="1" dirty="0"/>
              <a:t>HTML, CSS (custom + media queries), and              JavaScript</a:t>
            </a:r>
            <a:r>
              <a:rPr lang="en-IN" dirty="0"/>
              <a:t>.</a:t>
            </a:r>
          </a:p>
          <a:p>
            <a:endParaRPr lang="en-IN" sz="900" dirty="0"/>
          </a:p>
          <a:p>
            <a:r>
              <a:rPr lang="en-IN" b="1" u="sng" dirty="0"/>
              <a:t>Step 5: Integration</a:t>
            </a:r>
          </a:p>
          <a:p>
            <a:r>
              <a:rPr lang="en-IN" b="1" u="sng" dirty="0"/>
              <a:t>Step 6: Testing</a:t>
            </a:r>
          </a:p>
          <a:p>
            <a:r>
              <a:rPr lang="en-IN" b="1" u="sng" dirty="0"/>
              <a:t>Step 7: Deployment &amp; Future Scope</a:t>
            </a:r>
          </a:p>
        </p:txBody>
      </p:sp>
    </p:spTree>
    <p:extLst>
      <p:ext uri="{BB962C8B-B14F-4D97-AF65-F5344CB8AC3E}">
        <p14:creationId xmlns:p14="http://schemas.microsoft.com/office/powerpoint/2010/main" val="3429915934"/>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29CD7-9A87-C8EC-53D3-B72C2090653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5A78057-6CAF-4798-7683-0A121E925E7D}"/>
              </a:ext>
            </a:extLst>
          </p:cNvPr>
          <p:cNvSpPr>
            <a:spLocks noGrp="1"/>
          </p:cNvSpPr>
          <p:nvPr>
            <p:ph type="title"/>
          </p:nvPr>
        </p:nvSpPr>
        <p:spPr/>
        <p:txBody>
          <a:bodyPr/>
          <a:lstStyle/>
          <a:p>
            <a:endParaRPr lang="en-IN"/>
          </a:p>
        </p:txBody>
      </p:sp>
      <p:sp>
        <p:nvSpPr>
          <p:cNvPr id="5" name="Content Placeholder 4">
            <a:extLst>
              <a:ext uri="{FF2B5EF4-FFF2-40B4-BE49-F238E27FC236}">
                <a16:creationId xmlns:a16="http://schemas.microsoft.com/office/drawing/2014/main" id="{5AF81417-BC86-BBFB-07A8-662C5B2D44FE}"/>
              </a:ext>
            </a:extLst>
          </p:cNvPr>
          <p:cNvSpPr>
            <a:spLocks noGrp="1"/>
          </p:cNvSpPr>
          <p:nvPr>
            <p:ph idx="1"/>
          </p:nvPr>
        </p:nvSpPr>
        <p:spPr>
          <a:xfrm>
            <a:off x="233536" y="1260043"/>
            <a:ext cx="7074768" cy="4674840"/>
          </a:xfrm>
        </p:spPr>
        <p:txBody>
          <a:bodyPr>
            <a:normAutofit fontScale="32500" lnSpcReduction="20000"/>
          </a:bodyPr>
          <a:lstStyle/>
          <a:p>
            <a:pPr marL="182562" indent="0">
              <a:buNone/>
            </a:pPr>
            <a:r>
              <a:rPr lang="en-IN" sz="6000" dirty="0"/>
              <a:t>During my internship, I gained valuable skills that strengthened my career foundation:</a:t>
            </a:r>
          </a:p>
          <a:p>
            <a:pPr marL="182562" indent="0">
              <a:buNone/>
            </a:pPr>
            <a:endParaRPr lang="en-IN" sz="4000" dirty="0"/>
          </a:p>
          <a:p>
            <a:pPr marL="182562" lvl="0" indent="0">
              <a:buNone/>
            </a:pPr>
            <a:r>
              <a:rPr lang="en-IN" sz="6000" b="1" dirty="0"/>
              <a:t>Technical Skills:</a:t>
            </a:r>
            <a:endParaRPr lang="en-IN" sz="3500" dirty="0"/>
          </a:p>
          <a:p>
            <a:pPr marL="182562" lvl="1" indent="0">
              <a:buNone/>
            </a:pPr>
            <a:r>
              <a:rPr lang="en-IN" sz="6000" dirty="0"/>
              <a:t>PHP for server-side scripting</a:t>
            </a:r>
            <a:endParaRPr lang="en-IN" sz="4000" dirty="0"/>
          </a:p>
          <a:p>
            <a:pPr marL="182562" lvl="1" indent="0">
              <a:buNone/>
            </a:pPr>
            <a:r>
              <a:rPr lang="en-IN" sz="6000" dirty="0"/>
              <a:t>MySQL database management</a:t>
            </a:r>
            <a:endParaRPr lang="en-IN" sz="4000" dirty="0"/>
          </a:p>
          <a:p>
            <a:pPr marL="182562" lvl="1" indent="0">
              <a:buNone/>
            </a:pPr>
            <a:r>
              <a:rPr lang="en-IN" sz="6000" dirty="0"/>
              <a:t>JavaScript for form validation and interactivity</a:t>
            </a:r>
            <a:endParaRPr lang="en-IN" sz="4000" dirty="0"/>
          </a:p>
          <a:p>
            <a:pPr marL="182562" lvl="1" indent="0">
              <a:buNone/>
            </a:pPr>
            <a:r>
              <a:rPr lang="en-IN" sz="6000" dirty="0"/>
              <a:t>HTML &amp; CSS for responsive UI design</a:t>
            </a:r>
            <a:endParaRPr lang="en-IN" sz="4000" dirty="0"/>
          </a:p>
          <a:p>
            <a:pPr marL="182562" lvl="1" indent="0">
              <a:buNone/>
            </a:pPr>
            <a:r>
              <a:rPr lang="en-IN" sz="6000" dirty="0"/>
              <a:t>Git for version control and Infinity free Hosting </a:t>
            </a:r>
          </a:p>
          <a:p>
            <a:pPr marL="182562" lvl="1" indent="0">
              <a:buNone/>
            </a:pPr>
            <a:endParaRPr lang="en-IN" sz="4000" dirty="0"/>
          </a:p>
          <a:p>
            <a:pPr marL="182562" lvl="0" indent="0">
              <a:buNone/>
            </a:pPr>
            <a:r>
              <a:rPr lang="en-IN" sz="6000" b="1" dirty="0"/>
              <a:t>Professional Skills:</a:t>
            </a:r>
            <a:endParaRPr lang="en-IN" sz="3500" dirty="0"/>
          </a:p>
          <a:p>
            <a:pPr marL="182562" lvl="1" indent="0">
              <a:buNone/>
            </a:pPr>
            <a:r>
              <a:rPr lang="en-IN" sz="6000" dirty="0"/>
              <a:t>Working in a tech environment</a:t>
            </a:r>
            <a:endParaRPr lang="en-IN" sz="4000" dirty="0"/>
          </a:p>
          <a:p>
            <a:pPr marL="182562" lvl="1" indent="0">
              <a:buNone/>
            </a:pPr>
            <a:r>
              <a:rPr lang="en-IN" sz="6000" dirty="0"/>
              <a:t>Time management while handling project deadlines</a:t>
            </a:r>
            <a:endParaRPr lang="en-IN" sz="4000" dirty="0"/>
          </a:p>
          <a:p>
            <a:pPr marL="182562" lvl="1" indent="0">
              <a:buNone/>
            </a:pPr>
            <a:r>
              <a:rPr lang="en-IN" sz="6000" dirty="0"/>
              <a:t>Problem-solving and debugging techniques</a:t>
            </a:r>
            <a:endParaRPr lang="en-IN" sz="4000" dirty="0"/>
          </a:p>
          <a:p>
            <a:pPr marL="182562" lvl="1" indent="0">
              <a:buNone/>
            </a:pPr>
            <a:r>
              <a:rPr lang="en-IN" sz="6000" dirty="0"/>
              <a:t>Communicating effectively with supervisors and peers</a:t>
            </a:r>
            <a:endParaRPr lang="en-IN" sz="4000" dirty="0"/>
          </a:p>
          <a:p>
            <a:pPr indent="-160338"/>
            <a:endParaRPr lang="en-IN" dirty="0"/>
          </a:p>
          <a:p>
            <a:pPr indent="-160338"/>
            <a:endParaRPr lang="en-IN" dirty="0"/>
          </a:p>
        </p:txBody>
      </p:sp>
      <p:sp>
        <p:nvSpPr>
          <p:cNvPr id="2" name="Slide Number Placeholder 1">
            <a:extLst>
              <a:ext uri="{FF2B5EF4-FFF2-40B4-BE49-F238E27FC236}">
                <a16:creationId xmlns:a16="http://schemas.microsoft.com/office/drawing/2014/main" id="{A5D11F49-E3D8-B5BB-10F1-26A36882CCC9}"/>
              </a:ext>
            </a:extLst>
          </p:cNvPr>
          <p:cNvSpPr>
            <a:spLocks noGrp="1"/>
          </p:cNvSpPr>
          <p:nvPr>
            <p:ph type="sldNum" sz="quarter" idx="12"/>
          </p:nvPr>
        </p:nvSpPr>
        <p:spPr/>
        <p:txBody>
          <a:bodyPr/>
          <a:lstStyle/>
          <a:p>
            <a:fld id="{08FC1071-F2DF-4CA9-AA63-FF97A16BD739}" type="slidenum">
              <a:rPr lang="en-IN" smtClean="0">
                <a:solidFill>
                  <a:schemeClr val="bg1"/>
                </a:solidFill>
              </a:rPr>
              <a:pPr/>
              <a:t>6</a:t>
            </a:fld>
            <a:endParaRPr lang="en-IN" dirty="0">
              <a:solidFill>
                <a:schemeClr val="bg1"/>
              </a:solidFill>
            </a:endParaRPr>
          </a:p>
        </p:txBody>
      </p:sp>
      <p:sp>
        <p:nvSpPr>
          <p:cNvPr id="485380" name="Rectangle 4">
            <a:extLst>
              <a:ext uri="{FF2B5EF4-FFF2-40B4-BE49-F238E27FC236}">
                <a16:creationId xmlns:a16="http://schemas.microsoft.com/office/drawing/2014/main" id="{E6295066-0DFD-DF47-226F-F4BB02EE8DB4}"/>
              </a:ext>
            </a:extLst>
          </p:cNvPr>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5381" name="Text Box 5">
            <a:extLst>
              <a:ext uri="{FF2B5EF4-FFF2-40B4-BE49-F238E27FC236}">
                <a16:creationId xmlns:a16="http://schemas.microsoft.com/office/drawing/2014/main" id="{5F093A47-86D7-DB7B-DFB3-2A6D7361C6DE}"/>
              </a:ext>
            </a:extLst>
          </p:cNvPr>
          <p:cNvSpPr txBox="1">
            <a:spLocks noChangeArrowheads="1"/>
          </p:cNvSpPr>
          <p:nvPr/>
        </p:nvSpPr>
        <p:spPr bwMode="auto">
          <a:xfrm>
            <a:off x="197532" y="218365"/>
            <a:ext cx="574262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000" b="1" dirty="0">
                <a:solidFill>
                  <a:schemeClr val="bg1"/>
                </a:solidFill>
                <a:latin typeface="Calibri" pitchFamily="34" charset="0"/>
                <a:ea typeface="ＭＳ Ｐゴシック" pitchFamily="-28" charset="-128"/>
              </a:rPr>
              <a:t>2. Methodologies/ Technologies/ Tools to be used</a:t>
            </a:r>
          </a:p>
          <a:p>
            <a:endParaRPr lang="en-US" sz="2000" b="1" dirty="0">
              <a:solidFill>
                <a:schemeClr val="bg1"/>
              </a:solidFill>
              <a:latin typeface="Calibri" pitchFamily="34" charset="0"/>
              <a:ea typeface="ＭＳ Ｐゴシック" pitchFamily="-28" charset="-128"/>
            </a:endParaRPr>
          </a:p>
        </p:txBody>
      </p:sp>
      <p:sp>
        <p:nvSpPr>
          <p:cNvPr id="485384" name="Rectangle 8">
            <a:extLst>
              <a:ext uri="{FF2B5EF4-FFF2-40B4-BE49-F238E27FC236}">
                <a16:creationId xmlns:a16="http://schemas.microsoft.com/office/drawing/2014/main" id="{A7B1712D-9106-CC8E-548A-2AEE8D6DFEB7}"/>
              </a:ext>
            </a:extLst>
          </p:cNvPr>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pic>
        <p:nvPicPr>
          <p:cNvPr id="485394" name="Picture 18" descr="Teerthanker Mahaveer University">
            <a:extLst>
              <a:ext uri="{FF2B5EF4-FFF2-40B4-BE49-F238E27FC236}">
                <a16:creationId xmlns:a16="http://schemas.microsoft.com/office/drawing/2014/main" id="{FE3D15C9-693C-F9A5-A0DF-B98F5BE17D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a:extLst>
              <a:ext uri="{FF2B5EF4-FFF2-40B4-BE49-F238E27FC236}">
                <a16:creationId xmlns:a16="http://schemas.microsoft.com/office/drawing/2014/main" id="{A8419491-64D7-5832-07F8-CDCF79F6A805}"/>
              </a:ext>
            </a:extLst>
          </p:cNvPr>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6</a:t>
            </a:fld>
            <a:endParaRPr lang="en-IN" dirty="0">
              <a:solidFill>
                <a:schemeClr val="bg1"/>
              </a:solidFill>
            </a:endParaRPr>
          </a:p>
        </p:txBody>
      </p:sp>
      <p:pic>
        <p:nvPicPr>
          <p:cNvPr id="4098" name="Picture 2" descr="PHP Logo PNG Transparent &amp; SVG Vector - Freebie Supply">
            <a:extLst>
              <a:ext uri="{FF2B5EF4-FFF2-40B4-BE49-F238E27FC236}">
                <a16:creationId xmlns:a16="http://schemas.microsoft.com/office/drawing/2014/main" id="{FE34B00E-61A0-A2FE-A06F-2C77B93DAC2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19131" y="1136104"/>
            <a:ext cx="1349733" cy="1349733"/>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MySQL, rotated logo, white background B Stock Photo - Alamy">
            <a:extLst>
              <a:ext uri="{FF2B5EF4-FFF2-40B4-BE49-F238E27FC236}">
                <a16:creationId xmlns:a16="http://schemas.microsoft.com/office/drawing/2014/main" id="{88DC172F-059A-C641-C8D0-59257821F59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119132" y="2426399"/>
            <a:ext cx="1391144" cy="1002602"/>
          </a:xfrm>
          <a:prstGeom prst="rect">
            <a:avLst/>
          </a:prstGeom>
          <a:noFill/>
          <a:extLst>
            <a:ext uri="{909E8E84-426E-40DD-AFC4-6F175D3DCCD1}">
              <a14:hiddenFill xmlns:a14="http://schemas.microsoft.com/office/drawing/2010/main">
                <a:solidFill>
                  <a:srgbClr val="FFFFFF"/>
                </a:solidFill>
              </a14:hiddenFill>
            </a:ext>
          </a:extLst>
        </p:spPr>
      </p:pic>
      <p:pic>
        <p:nvPicPr>
          <p:cNvPr id="4114" name="Picture 18" descr="Javascript Logo PNG Images, Free Transparent Javascript Logo Download ...">
            <a:extLst>
              <a:ext uri="{FF2B5EF4-FFF2-40B4-BE49-F238E27FC236}">
                <a16:creationId xmlns:a16="http://schemas.microsoft.com/office/drawing/2014/main" id="{E28EDB54-62DC-F86B-AB9B-B724AE63D38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02257" y="4021557"/>
            <a:ext cx="1660610" cy="1351659"/>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3413842"/>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5" name="Content Placeholder 4"/>
          <p:cNvSpPr>
            <a:spLocks noGrp="1"/>
          </p:cNvSpPr>
          <p:nvPr>
            <p:ph idx="1"/>
          </p:nvPr>
        </p:nvSpPr>
        <p:spPr>
          <a:xfrm>
            <a:off x="107504" y="1076975"/>
            <a:ext cx="8532440" cy="4851306"/>
          </a:xfrm>
        </p:spPr>
        <p:txBody>
          <a:bodyPr>
            <a:noAutofit/>
          </a:bodyPr>
          <a:lstStyle/>
          <a:p>
            <a:pPr marL="457200">
              <a:lnSpc>
                <a:spcPct val="150000"/>
              </a:lnSpc>
              <a:spcBef>
                <a:spcPts val="600"/>
              </a:spcBef>
              <a:spcAft>
                <a:spcPts val="2100"/>
              </a:spcAft>
              <a:buNone/>
            </a:pPr>
            <a:r>
              <a:rPr lang="en-IN" sz="1600" dirty="0">
                <a:solidFill>
                  <a:srgbClr val="000000"/>
                </a:solidFill>
                <a:effectLst/>
                <a:ea typeface="Arial" panose="020B0604020202020204" pitchFamily="34" charset="0"/>
              </a:rPr>
              <a:t>      Throughout my internship, I was actively involved in both </a:t>
            </a:r>
            <a:r>
              <a:rPr lang="en-IN" sz="1600" b="1" dirty="0">
                <a:solidFill>
                  <a:srgbClr val="000000"/>
                </a:solidFill>
                <a:effectLst/>
                <a:ea typeface="Arial" panose="020B0604020202020204" pitchFamily="34" charset="0"/>
              </a:rPr>
              <a:t>development</a:t>
            </a:r>
            <a:r>
              <a:rPr lang="en-IN" sz="1600" dirty="0">
                <a:solidFill>
                  <a:srgbClr val="000000"/>
                </a:solidFill>
                <a:effectLst/>
                <a:ea typeface="Arial" panose="020B0604020202020204" pitchFamily="34" charset="0"/>
              </a:rPr>
              <a:t> and </a:t>
            </a:r>
            <a:r>
              <a:rPr lang="en-IN" sz="1600" b="1" dirty="0">
                <a:solidFill>
                  <a:srgbClr val="000000"/>
                </a:solidFill>
                <a:effectLst/>
                <a:ea typeface="Arial" panose="020B0604020202020204" pitchFamily="34" charset="0"/>
              </a:rPr>
              <a:t>testing</a:t>
            </a:r>
            <a:r>
              <a:rPr lang="en-IN" sz="1600" dirty="0">
                <a:solidFill>
                  <a:srgbClr val="000000"/>
                </a:solidFill>
                <a:effectLst/>
                <a:ea typeface="Arial" panose="020B0604020202020204" pitchFamily="34" charset="0"/>
              </a:rPr>
              <a:t> phases of the BlogScript project. My major responsibilities included:</a:t>
            </a:r>
            <a:endParaRPr lang="en-IN" sz="1600" dirty="0">
              <a:effectLst/>
              <a:ea typeface="Arial" panose="020B0604020202020204" pitchFamily="34" charset="0"/>
            </a:endParaRPr>
          </a:p>
          <a:p>
            <a:pPr marL="538163" lvl="0" indent="-182563">
              <a:lnSpc>
                <a:spcPct val="150000"/>
              </a:lnSpc>
              <a:buSzPts val="1000"/>
              <a:buFont typeface="Symbol" panose="05050102010706020507" pitchFamily="18" charset="2"/>
              <a:buChar char=""/>
              <a:tabLst>
                <a:tab pos="457200" algn="l"/>
              </a:tabLst>
            </a:pPr>
            <a:r>
              <a:rPr lang="en-IN" sz="1600" b="1" dirty="0">
                <a:effectLst/>
                <a:ea typeface="Times New Roman" panose="02020603050405020304" pitchFamily="18" charset="0"/>
              </a:rPr>
              <a:t>Week 1:</a:t>
            </a:r>
            <a:r>
              <a:rPr lang="en-IN" sz="1600" dirty="0">
                <a:effectLst/>
                <a:ea typeface="Times New Roman" panose="02020603050405020304" pitchFamily="18" charset="0"/>
              </a:rPr>
              <a:t> Setting Up development Environment </a:t>
            </a:r>
          </a:p>
          <a:p>
            <a:pPr marL="538163" lvl="0" indent="-182563">
              <a:lnSpc>
                <a:spcPct val="150000"/>
              </a:lnSpc>
              <a:buSzPts val="1000"/>
              <a:buFont typeface="Symbol" panose="05050102010706020507" pitchFamily="18" charset="2"/>
              <a:buChar char=""/>
              <a:tabLst>
                <a:tab pos="457200" algn="l"/>
              </a:tabLst>
            </a:pPr>
            <a:r>
              <a:rPr lang="en-IN" sz="1600" b="1" dirty="0">
                <a:effectLst/>
                <a:ea typeface="Times New Roman" panose="02020603050405020304" pitchFamily="18" charset="0"/>
              </a:rPr>
              <a:t>Week 2:</a:t>
            </a:r>
            <a:r>
              <a:rPr lang="en-IN" sz="1600" dirty="0">
                <a:effectLst/>
                <a:ea typeface="Times New Roman" panose="02020603050405020304" pitchFamily="18" charset="0"/>
              </a:rPr>
              <a:t> Developing dynamic web pages in PHP to enable basic CRUD (Create, Read, Update, Delete) application.</a:t>
            </a:r>
          </a:p>
          <a:p>
            <a:pPr marL="538163" lvl="0" indent="-182563">
              <a:lnSpc>
                <a:spcPct val="150000"/>
              </a:lnSpc>
              <a:buSzPts val="1000"/>
              <a:buFont typeface="Symbol" panose="05050102010706020507" pitchFamily="18" charset="2"/>
              <a:buChar char=""/>
              <a:tabLst>
                <a:tab pos="457200" algn="l"/>
              </a:tabLst>
            </a:pPr>
            <a:r>
              <a:rPr lang="en-IN" sz="1600" b="1" dirty="0">
                <a:effectLst/>
                <a:ea typeface="Times New Roman" panose="02020603050405020304" pitchFamily="18" charset="0"/>
              </a:rPr>
              <a:t>Week 3:</a:t>
            </a:r>
            <a:r>
              <a:rPr lang="en-IN" sz="1600" dirty="0">
                <a:effectLst/>
                <a:ea typeface="Times New Roman" panose="02020603050405020304" pitchFamily="18" charset="0"/>
              </a:rPr>
              <a:t> Advanced Features Implementation</a:t>
            </a:r>
          </a:p>
          <a:p>
            <a:pPr marL="538163" lvl="0" indent="-182563">
              <a:lnSpc>
                <a:spcPct val="150000"/>
              </a:lnSpc>
              <a:buSzPts val="1000"/>
              <a:buFont typeface="Symbol" panose="05050102010706020507" pitchFamily="18" charset="2"/>
              <a:buChar char=""/>
              <a:tabLst>
                <a:tab pos="457200" algn="l"/>
              </a:tabLst>
            </a:pPr>
            <a:r>
              <a:rPr lang="en-IN" sz="1600" b="1" dirty="0">
                <a:ea typeface="Times New Roman" panose="02020603050405020304" pitchFamily="18" charset="0"/>
              </a:rPr>
              <a:t>Week</a:t>
            </a:r>
            <a:r>
              <a:rPr lang="en-IN" sz="1600" b="1" dirty="0">
                <a:effectLst/>
                <a:ea typeface="Times New Roman" panose="02020603050405020304" pitchFamily="18" charset="0"/>
              </a:rPr>
              <a:t> 4:</a:t>
            </a:r>
            <a:r>
              <a:rPr lang="en-IN" sz="1600" dirty="0">
                <a:effectLst/>
                <a:ea typeface="Times New Roman" panose="02020603050405020304" pitchFamily="18" charset="0"/>
              </a:rPr>
              <a:t> Security Enhancements</a:t>
            </a:r>
          </a:p>
          <a:p>
            <a:pPr marL="538163" lvl="0" indent="-182563">
              <a:lnSpc>
                <a:spcPct val="150000"/>
              </a:lnSpc>
              <a:buSzPts val="1000"/>
              <a:buFont typeface="Symbol" panose="05050102010706020507" pitchFamily="18" charset="2"/>
              <a:buChar char=""/>
              <a:tabLst>
                <a:tab pos="457200" algn="l"/>
              </a:tabLst>
            </a:pPr>
            <a:r>
              <a:rPr lang="en-IN" sz="1600" b="1" dirty="0">
                <a:ea typeface="Times New Roman" panose="02020603050405020304" pitchFamily="18" charset="0"/>
              </a:rPr>
              <a:t>Week</a:t>
            </a:r>
            <a:r>
              <a:rPr lang="en-IN" sz="1600" b="1" dirty="0">
                <a:effectLst/>
                <a:ea typeface="Times New Roman" panose="02020603050405020304" pitchFamily="18" charset="0"/>
              </a:rPr>
              <a:t> 5:</a:t>
            </a:r>
            <a:r>
              <a:rPr lang="en-IN" sz="1600" dirty="0">
                <a:effectLst/>
                <a:ea typeface="Times New Roman" panose="02020603050405020304" pitchFamily="18" charset="0"/>
              </a:rPr>
              <a:t> Testing the application for bugs, debugging code, and ensuring performance optimization.</a:t>
            </a:r>
          </a:p>
          <a:p>
            <a:pPr marL="538163" lvl="0" indent="-182563">
              <a:lnSpc>
                <a:spcPct val="150000"/>
              </a:lnSpc>
              <a:buSzPts val="1000"/>
              <a:buFont typeface="Symbol" panose="05050102010706020507" pitchFamily="18" charset="2"/>
              <a:buChar char=""/>
              <a:tabLst>
                <a:tab pos="457200" algn="l"/>
              </a:tabLst>
            </a:pPr>
            <a:r>
              <a:rPr lang="en-IN" sz="1600" b="1" dirty="0">
                <a:effectLst/>
                <a:ea typeface="Times New Roman" panose="02020603050405020304" pitchFamily="18" charset="0"/>
              </a:rPr>
              <a:t>Week 6 </a:t>
            </a:r>
            <a:r>
              <a:rPr lang="en-IN" sz="1600" dirty="0">
                <a:effectLst/>
                <a:ea typeface="Times New Roman" panose="02020603050405020304" pitchFamily="18" charset="0"/>
              </a:rPr>
              <a:t>: Hosting in </a:t>
            </a:r>
            <a:r>
              <a:rPr lang="en-IN" sz="1600" dirty="0">
                <a:ea typeface="Times New Roman" panose="02020603050405020304" pitchFamily="18" charset="0"/>
              </a:rPr>
              <a:t>infinity free hosting </a:t>
            </a:r>
            <a:endParaRPr lang="en-IN" sz="1600" dirty="0">
              <a:effectLst/>
              <a:ea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7</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5381" name="Text Box 5"/>
          <p:cNvSpPr txBox="1">
            <a:spLocks noChangeArrowheads="1"/>
          </p:cNvSpPr>
          <p:nvPr/>
        </p:nvSpPr>
        <p:spPr bwMode="auto">
          <a:xfrm>
            <a:off x="18955" y="172514"/>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400" b="1" dirty="0">
                <a:solidFill>
                  <a:schemeClr val="bg1"/>
                </a:solidFill>
                <a:latin typeface="Calibri" pitchFamily="34" charset="0"/>
                <a:ea typeface="ＭＳ Ｐゴシック" pitchFamily="-28" charset="-128"/>
              </a:rPr>
              <a:t>  3.Internship Duties:</a:t>
            </a: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7</a:t>
            </a:fld>
            <a:endParaRPr lang="en-IN" dirty="0">
              <a:solidFill>
                <a:schemeClr val="bg1"/>
              </a:solidFill>
            </a:endParaRPr>
          </a:p>
        </p:txBody>
      </p:sp>
    </p:spTree>
    <p:extLst>
      <p:ext uri="{BB962C8B-B14F-4D97-AF65-F5344CB8AC3E}">
        <p14:creationId xmlns:p14="http://schemas.microsoft.com/office/powerpoint/2010/main" val="3429915934"/>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rear</a:t>
            </a:r>
            <a:endParaRPr lang="en-IN" dirty="0"/>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8</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5381" name="Text Box 5"/>
          <p:cNvSpPr txBox="1">
            <a:spLocks noChangeArrowheads="1"/>
          </p:cNvSpPr>
          <p:nvPr/>
        </p:nvSpPr>
        <p:spPr bwMode="auto">
          <a:xfrm>
            <a:off x="188821" y="226367"/>
            <a:ext cx="6172712"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000" b="1" dirty="0">
                <a:solidFill>
                  <a:schemeClr val="bg1"/>
                </a:solidFill>
                <a:latin typeface="Calibri" pitchFamily="34" charset="0"/>
                <a:ea typeface="ＭＳ Ｐゴシック" pitchFamily="-28" charset="-128"/>
              </a:rPr>
              <a:t> 4. Context Diagram (Overall Project)</a:t>
            </a:r>
          </a:p>
          <a:p>
            <a:pPr>
              <a:spcBef>
                <a:spcPct val="50000"/>
              </a:spcBef>
            </a:pPr>
            <a:endParaRPr lang="en-US" sz="1600" b="1" dirty="0">
              <a:solidFill>
                <a:schemeClr val="bg1"/>
              </a:solidFill>
              <a:latin typeface="Calibri" pitchFamily="34" charset="0"/>
              <a:ea typeface="ＭＳ Ｐゴシック" pitchFamily="-28" charset="-128"/>
            </a:endParaRP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8</a:t>
            </a:fld>
            <a:endParaRPr lang="en-IN" dirty="0">
              <a:solidFill>
                <a:schemeClr val="bg1"/>
              </a:solidFill>
            </a:endParaRPr>
          </a:p>
        </p:txBody>
      </p:sp>
      <p:cxnSp>
        <p:nvCxnSpPr>
          <p:cNvPr id="31" name="Straight Arrow Connector 30">
            <a:extLst>
              <a:ext uri="{FF2B5EF4-FFF2-40B4-BE49-F238E27FC236}">
                <a16:creationId xmlns:a16="http://schemas.microsoft.com/office/drawing/2014/main" id="{4776FCB8-374B-A21E-9D79-1CC3BDD63367}"/>
              </a:ext>
            </a:extLst>
          </p:cNvPr>
          <p:cNvCxnSpPr>
            <a:cxnSpLocks/>
          </p:cNvCxnSpPr>
          <p:nvPr/>
        </p:nvCxnSpPr>
        <p:spPr>
          <a:xfrm>
            <a:off x="5471582" y="4176143"/>
            <a:ext cx="1122185" cy="6442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5390" name="Straight Connector 485389">
            <a:extLst>
              <a:ext uri="{FF2B5EF4-FFF2-40B4-BE49-F238E27FC236}">
                <a16:creationId xmlns:a16="http://schemas.microsoft.com/office/drawing/2014/main" id="{BA4AB018-47C9-44EB-A5F4-C1989BE0EB42}"/>
              </a:ext>
            </a:extLst>
          </p:cNvPr>
          <p:cNvCxnSpPr>
            <a:cxnSpLocks/>
          </p:cNvCxnSpPr>
          <p:nvPr/>
        </p:nvCxnSpPr>
        <p:spPr>
          <a:xfrm flipH="1">
            <a:off x="8532440" y="5238045"/>
            <a:ext cx="418702"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359E8559-6F45-015F-EA10-9FA9CAFC8009}"/>
              </a:ext>
            </a:extLst>
          </p:cNvPr>
          <p:cNvGrpSpPr/>
          <p:nvPr/>
        </p:nvGrpSpPr>
        <p:grpSpPr>
          <a:xfrm>
            <a:off x="827584" y="1412776"/>
            <a:ext cx="7344816" cy="3672408"/>
            <a:chOff x="611559" y="1601328"/>
            <a:chExt cx="8339583" cy="4098515"/>
          </a:xfrm>
        </p:grpSpPr>
        <p:sp>
          <p:nvSpPr>
            <p:cNvPr id="15" name="Oval 14">
              <a:extLst>
                <a:ext uri="{FF2B5EF4-FFF2-40B4-BE49-F238E27FC236}">
                  <a16:creationId xmlns:a16="http://schemas.microsoft.com/office/drawing/2014/main" id="{3FCC407E-8089-46EB-BADD-A91282AD5EA7}"/>
                </a:ext>
              </a:extLst>
            </p:cNvPr>
            <p:cNvSpPr/>
            <p:nvPr/>
          </p:nvSpPr>
          <p:spPr>
            <a:xfrm>
              <a:off x="3716968" y="2973691"/>
              <a:ext cx="1716765" cy="165200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Creator</a:t>
              </a:r>
            </a:p>
            <a:p>
              <a:pPr algn="ctr"/>
              <a:r>
                <a:rPr lang="en-US" sz="1000" dirty="0"/>
                <a:t>Dashboard</a:t>
              </a:r>
              <a:endParaRPr lang="en-IN" sz="1000" dirty="0"/>
            </a:p>
          </p:txBody>
        </p:sp>
        <p:sp>
          <p:nvSpPr>
            <p:cNvPr id="16" name="Rectangle 15">
              <a:extLst>
                <a:ext uri="{FF2B5EF4-FFF2-40B4-BE49-F238E27FC236}">
                  <a16:creationId xmlns:a16="http://schemas.microsoft.com/office/drawing/2014/main" id="{D355B93F-B23C-61E2-71D3-3394E63E0100}"/>
                </a:ext>
              </a:extLst>
            </p:cNvPr>
            <p:cNvSpPr/>
            <p:nvPr/>
          </p:nvSpPr>
          <p:spPr>
            <a:xfrm>
              <a:off x="6854569" y="3032340"/>
              <a:ext cx="1810894" cy="5287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Creator Database</a:t>
              </a:r>
              <a:endParaRPr lang="en-IN" dirty="0"/>
            </a:p>
          </p:txBody>
        </p:sp>
        <p:sp>
          <p:nvSpPr>
            <p:cNvPr id="17" name="Rectangle 16">
              <a:extLst>
                <a:ext uri="{FF2B5EF4-FFF2-40B4-BE49-F238E27FC236}">
                  <a16:creationId xmlns:a16="http://schemas.microsoft.com/office/drawing/2014/main" id="{F3458A62-3B07-8648-A3A0-7A8D474F0676}"/>
                </a:ext>
              </a:extLst>
            </p:cNvPr>
            <p:cNvSpPr/>
            <p:nvPr/>
          </p:nvSpPr>
          <p:spPr>
            <a:xfrm>
              <a:off x="703915" y="5021501"/>
              <a:ext cx="1606185" cy="4605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Creator </a:t>
              </a:r>
              <a:endParaRPr lang="en-IN" dirty="0"/>
            </a:p>
          </p:txBody>
        </p:sp>
        <p:sp>
          <p:nvSpPr>
            <p:cNvPr id="18" name="Rectangle 17">
              <a:extLst>
                <a:ext uri="{FF2B5EF4-FFF2-40B4-BE49-F238E27FC236}">
                  <a16:creationId xmlns:a16="http://schemas.microsoft.com/office/drawing/2014/main" id="{ADBF16E6-8B8F-7B76-E90B-A44958D98D01}"/>
                </a:ext>
              </a:extLst>
            </p:cNvPr>
            <p:cNvSpPr/>
            <p:nvPr/>
          </p:nvSpPr>
          <p:spPr>
            <a:xfrm>
              <a:off x="703916" y="1601328"/>
              <a:ext cx="1554525" cy="3679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Posts</a:t>
              </a:r>
              <a:endParaRPr lang="en-IN" dirty="0"/>
            </a:p>
          </p:txBody>
        </p:sp>
        <p:sp>
          <p:nvSpPr>
            <p:cNvPr id="20" name="Rectangle 19">
              <a:extLst>
                <a:ext uri="{FF2B5EF4-FFF2-40B4-BE49-F238E27FC236}">
                  <a16:creationId xmlns:a16="http://schemas.microsoft.com/office/drawing/2014/main" id="{589FB38B-792B-67D0-5F37-3487C9225A67}"/>
                </a:ext>
              </a:extLst>
            </p:cNvPr>
            <p:cNvSpPr/>
            <p:nvPr/>
          </p:nvSpPr>
          <p:spPr>
            <a:xfrm>
              <a:off x="6833902" y="4955883"/>
              <a:ext cx="1708434" cy="5375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Post Database</a:t>
              </a:r>
              <a:endParaRPr lang="en-IN" dirty="0"/>
            </a:p>
          </p:txBody>
        </p:sp>
        <p:sp>
          <p:nvSpPr>
            <p:cNvPr id="22" name="Rectangle 21">
              <a:extLst>
                <a:ext uri="{FF2B5EF4-FFF2-40B4-BE49-F238E27FC236}">
                  <a16:creationId xmlns:a16="http://schemas.microsoft.com/office/drawing/2014/main" id="{83ABE292-5160-807D-9E49-6502B08F1D70}"/>
                </a:ext>
              </a:extLst>
            </p:cNvPr>
            <p:cNvSpPr/>
            <p:nvPr/>
          </p:nvSpPr>
          <p:spPr>
            <a:xfrm>
              <a:off x="611559" y="2998597"/>
              <a:ext cx="1698541" cy="622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User </a:t>
              </a:r>
              <a:endParaRPr lang="en-IN" dirty="0"/>
            </a:p>
            <a:p>
              <a:pPr algn="ctr"/>
              <a:endParaRPr lang="en-IN" dirty="0"/>
            </a:p>
          </p:txBody>
        </p:sp>
        <p:cxnSp>
          <p:nvCxnSpPr>
            <p:cNvPr id="23" name="Straight Arrow Connector 22">
              <a:extLst>
                <a:ext uri="{FF2B5EF4-FFF2-40B4-BE49-F238E27FC236}">
                  <a16:creationId xmlns:a16="http://schemas.microsoft.com/office/drawing/2014/main" id="{258A8167-1C33-CC1D-4403-0C43B5DE948A}"/>
                </a:ext>
              </a:extLst>
            </p:cNvPr>
            <p:cNvCxnSpPr>
              <a:cxnSpLocks/>
            </p:cNvCxnSpPr>
            <p:nvPr/>
          </p:nvCxnSpPr>
          <p:spPr>
            <a:xfrm flipV="1">
              <a:off x="2483768" y="4260381"/>
              <a:ext cx="1101684" cy="76112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E02F4C34-441B-10FC-D97D-A47CD36D3955}"/>
                </a:ext>
              </a:extLst>
            </p:cNvPr>
            <p:cNvCxnSpPr>
              <a:cxnSpLocks/>
            </p:cNvCxnSpPr>
            <p:nvPr/>
          </p:nvCxnSpPr>
          <p:spPr>
            <a:xfrm flipH="1">
              <a:off x="2483768" y="3520372"/>
              <a:ext cx="10781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0E6A5F2A-7C68-E2CA-CCA1-380CDEC41C13}"/>
                </a:ext>
              </a:extLst>
            </p:cNvPr>
            <p:cNvSpPr/>
            <p:nvPr/>
          </p:nvSpPr>
          <p:spPr>
            <a:xfrm>
              <a:off x="7769363" y="4133584"/>
              <a:ext cx="1181779" cy="2128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Creator ID</a:t>
              </a:r>
              <a:endParaRPr lang="en-IN" dirty="0">
                <a:solidFill>
                  <a:schemeClr val="tx1"/>
                </a:solidFill>
              </a:endParaRPr>
            </a:p>
          </p:txBody>
        </p:sp>
        <p:sp>
          <p:nvSpPr>
            <p:cNvPr id="26" name="Rectangle 25">
              <a:extLst>
                <a:ext uri="{FF2B5EF4-FFF2-40B4-BE49-F238E27FC236}">
                  <a16:creationId xmlns:a16="http://schemas.microsoft.com/office/drawing/2014/main" id="{532FB9E8-9468-A0DB-DAE8-462E29574FE1}"/>
                </a:ext>
              </a:extLst>
            </p:cNvPr>
            <p:cNvSpPr/>
            <p:nvPr/>
          </p:nvSpPr>
          <p:spPr>
            <a:xfrm>
              <a:off x="2915448" y="4760074"/>
              <a:ext cx="1181779" cy="2128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Signup &amp; Login </a:t>
              </a:r>
              <a:endParaRPr lang="en-IN" dirty="0">
                <a:solidFill>
                  <a:schemeClr val="tx1"/>
                </a:solidFill>
              </a:endParaRPr>
            </a:p>
          </p:txBody>
        </p:sp>
        <p:sp>
          <p:nvSpPr>
            <p:cNvPr id="27" name="Rectangle 26">
              <a:extLst>
                <a:ext uri="{FF2B5EF4-FFF2-40B4-BE49-F238E27FC236}">
                  <a16:creationId xmlns:a16="http://schemas.microsoft.com/office/drawing/2014/main" id="{2F33010C-C2F3-37C6-9080-D5A04C12F8C8}"/>
                </a:ext>
              </a:extLst>
            </p:cNvPr>
            <p:cNvSpPr/>
            <p:nvPr/>
          </p:nvSpPr>
          <p:spPr>
            <a:xfrm>
              <a:off x="5975648" y="4176143"/>
              <a:ext cx="1181779" cy="2128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CRUD post</a:t>
              </a:r>
              <a:endParaRPr lang="en-IN" dirty="0">
                <a:solidFill>
                  <a:schemeClr val="tx1"/>
                </a:solidFill>
              </a:endParaRPr>
            </a:p>
          </p:txBody>
        </p:sp>
        <p:cxnSp>
          <p:nvCxnSpPr>
            <p:cNvPr id="32" name="Straight Arrow Connector 31">
              <a:extLst>
                <a:ext uri="{FF2B5EF4-FFF2-40B4-BE49-F238E27FC236}">
                  <a16:creationId xmlns:a16="http://schemas.microsoft.com/office/drawing/2014/main" id="{7CA10247-A0B2-A2BE-71FD-B24AFC025C44}"/>
                </a:ext>
              </a:extLst>
            </p:cNvPr>
            <p:cNvCxnSpPr>
              <a:cxnSpLocks/>
            </p:cNvCxnSpPr>
            <p:nvPr/>
          </p:nvCxnSpPr>
          <p:spPr>
            <a:xfrm>
              <a:off x="7753220" y="3799691"/>
              <a:ext cx="0" cy="10207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D6FA6F8D-1238-064D-2AE2-AD16F54183A3}"/>
                </a:ext>
              </a:extLst>
            </p:cNvPr>
            <p:cNvCxnSpPr>
              <a:cxnSpLocks/>
            </p:cNvCxnSpPr>
            <p:nvPr/>
          </p:nvCxnSpPr>
          <p:spPr>
            <a:xfrm flipV="1">
              <a:off x="1246616" y="2130641"/>
              <a:ext cx="0" cy="9373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3C98CDF9-EF25-B192-01FA-481292233AF2}"/>
                </a:ext>
              </a:extLst>
            </p:cNvPr>
            <p:cNvCxnSpPr>
              <a:cxnSpLocks/>
            </p:cNvCxnSpPr>
            <p:nvPr/>
          </p:nvCxnSpPr>
          <p:spPr>
            <a:xfrm>
              <a:off x="5433733" y="3403122"/>
              <a:ext cx="113280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B958275B-A238-1635-CE22-1E122364C65C}"/>
                </a:ext>
              </a:extLst>
            </p:cNvPr>
            <p:cNvCxnSpPr>
              <a:cxnSpLocks/>
            </p:cNvCxnSpPr>
            <p:nvPr/>
          </p:nvCxnSpPr>
          <p:spPr>
            <a:xfrm flipH="1" flipV="1">
              <a:off x="2483768" y="1865866"/>
              <a:ext cx="1368152" cy="12021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2E46258-C424-1D6B-C2AD-51505231E7FF}"/>
                </a:ext>
              </a:extLst>
            </p:cNvPr>
            <p:cNvCxnSpPr>
              <a:cxnSpLocks/>
            </p:cNvCxnSpPr>
            <p:nvPr/>
          </p:nvCxnSpPr>
          <p:spPr>
            <a:xfrm flipV="1">
              <a:off x="1275352" y="3773580"/>
              <a:ext cx="0" cy="114576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931ED033-8E8F-5E23-7817-3A80735A6418}"/>
                </a:ext>
              </a:extLst>
            </p:cNvPr>
            <p:cNvCxnSpPr>
              <a:cxnSpLocks/>
            </p:cNvCxnSpPr>
            <p:nvPr/>
          </p:nvCxnSpPr>
          <p:spPr>
            <a:xfrm flipH="1">
              <a:off x="2483768" y="1601328"/>
              <a:ext cx="6428518" cy="274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B2602C27-B9B5-A1D4-E767-9510637E1BE2}"/>
                </a:ext>
              </a:extLst>
            </p:cNvPr>
            <p:cNvCxnSpPr/>
            <p:nvPr/>
          </p:nvCxnSpPr>
          <p:spPr>
            <a:xfrm>
              <a:off x="8912286" y="1601328"/>
              <a:ext cx="0" cy="3636717"/>
            </a:xfrm>
            <a:prstGeom prst="line">
              <a:avLst/>
            </a:prstGeom>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871736E3-AA24-113D-FC00-6358CBD0D437}"/>
                </a:ext>
              </a:extLst>
            </p:cNvPr>
            <p:cNvSpPr/>
            <p:nvPr/>
          </p:nvSpPr>
          <p:spPr>
            <a:xfrm>
              <a:off x="7038725" y="5486963"/>
              <a:ext cx="1181779" cy="2128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Post ID</a:t>
              </a:r>
              <a:endParaRPr lang="en-IN" dirty="0">
                <a:solidFill>
                  <a:schemeClr val="tx1"/>
                </a:solidFill>
              </a:endParaRPr>
            </a:p>
          </p:txBody>
        </p:sp>
      </p:grpSp>
    </p:spTree>
    <p:extLst>
      <p:ext uri="{BB962C8B-B14F-4D97-AF65-F5344CB8AC3E}">
        <p14:creationId xmlns:p14="http://schemas.microsoft.com/office/powerpoint/2010/main" val="2843790546"/>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5A176-B224-3BFD-1D4F-B21BDFBE7FA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5CA34EC-6D1D-5E55-4CFD-E6859AEEF17A}"/>
              </a:ext>
            </a:extLst>
          </p:cNvPr>
          <p:cNvSpPr>
            <a:spLocks noGrp="1"/>
          </p:cNvSpPr>
          <p:nvPr>
            <p:ph type="title"/>
          </p:nvPr>
        </p:nvSpPr>
        <p:spPr/>
        <p:txBody>
          <a:bodyPr/>
          <a:lstStyle/>
          <a:p>
            <a:r>
              <a:rPr lang="en-US" dirty="0"/>
              <a:t>rear</a:t>
            </a:r>
            <a:endParaRPr lang="en-IN" dirty="0"/>
          </a:p>
        </p:txBody>
      </p:sp>
      <p:sp>
        <p:nvSpPr>
          <p:cNvPr id="2" name="Slide Number Placeholder 1">
            <a:extLst>
              <a:ext uri="{FF2B5EF4-FFF2-40B4-BE49-F238E27FC236}">
                <a16:creationId xmlns:a16="http://schemas.microsoft.com/office/drawing/2014/main" id="{05EA5AB0-DBDD-3E99-15E7-B6D8C2A995A3}"/>
              </a:ext>
            </a:extLst>
          </p:cNvPr>
          <p:cNvSpPr>
            <a:spLocks noGrp="1"/>
          </p:cNvSpPr>
          <p:nvPr>
            <p:ph type="sldNum" sz="quarter" idx="12"/>
          </p:nvPr>
        </p:nvSpPr>
        <p:spPr/>
        <p:txBody>
          <a:bodyPr/>
          <a:lstStyle/>
          <a:p>
            <a:fld id="{08FC1071-F2DF-4CA9-AA63-FF97A16BD739}" type="slidenum">
              <a:rPr lang="en-IN" smtClean="0">
                <a:solidFill>
                  <a:schemeClr val="bg1"/>
                </a:solidFill>
              </a:rPr>
              <a:pPr/>
              <a:t>9</a:t>
            </a:fld>
            <a:endParaRPr lang="en-IN" dirty="0">
              <a:solidFill>
                <a:schemeClr val="bg1"/>
              </a:solidFill>
            </a:endParaRPr>
          </a:p>
        </p:txBody>
      </p:sp>
      <p:sp>
        <p:nvSpPr>
          <p:cNvPr id="485380" name="Rectangle 4">
            <a:extLst>
              <a:ext uri="{FF2B5EF4-FFF2-40B4-BE49-F238E27FC236}">
                <a16:creationId xmlns:a16="http://schemas.microsoft.com/office/drawing/2014/main" id="{DA7D2667-9A4C-8AC4-964A-84F05F42080B}"/>
              </a:ext>
            </a:extLst>
          </p:cNvPr>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5381" name="Text Box 5">
            <a:extLst>
              <a:ext uri="{FF2B5EF4-FFF2-40B4-BE49-F238E27FC236}">
                <a16:creationId xmlns:a16="http://schemas.microsoft.com/office/drawing/2014/main" id="{2802219E-88E4-27F9-A265-09EC95A3B56A}"/>
              </a:ext>
            </a:extLst>
          </p:cNvPr>
          <p:cNvSpPr txBox="1">
            <a:spLocks noChangeArrowheads="1"/>
          </p:cNvSpPr>
          <p:nvPr/>
        </p:nvSpPr>
        <p:spPr bwMode="auto">
          <a:xfrm>
            <a:off x="188821" y="226367"/>
            <a:ext cx="61727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000" b="1" dirty="0">
                <a:solidFill>
                  <a:schemeClr val="bg1"/>
                </a:solidFill>
                <a:latin typeface="Calibri" pitchFamily="34" charset="0"/>
                <a:ea typeface="ＭＳ Ｐゴシック" pitchFamily="-28" charset="-128"/>
              </a:rPr>
              <a:t> 5. ER Diagrams </a:t>
            </a:r>
            <a:endParaRPr lang="en-US" sz="1600" b="1" dirty="0">
              <a:solidFill>
                <a:schemeClr val="bg1"/>
              </a:solidFill>
              <a:latin typeface="Calibri" pitchFamily="34" charset="0"/>
              <a:ea typeface="ＭＳ Ｐゴシック" pitchFamily="-28" charset="-128"/>
            </a:endParaRPr>
          </a:p>
        </p:txBody>
      </p:sp>
      <p:sp>
        <p:nvSpPr>
          <p:cNvPr id="485384" name="Rectangle 8">
            <a:extLst>
              <a:ext uri="{FF2B5EF4-FFF2-40B4-BE49-F238E27FC236}">
                <a16:creationId xmlns:a16="http://schemas.microsoft.com/office/drawing/2014/main" id="{79373FCD-15F6-B938-5B84-FE505BE05F43}"/>
              </a:ext>
            </a:extLst>
          </p:cNvPr>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pic>
        <p:nvPicPr>
          <p:cNvPr id="485394" name="Picture 18" descr="Teerthanker Mahaveer University">
            <a:extLst>
              <a:ext uri="{FF2B5EF4-FFF2-40B4-BE49-F238E27FC236}">
                <a16:creationId xmlns:a16="http://schemas.microsoft.com/office/drawing/2014/main" id="{3142D028-BA3F-6350-91C3-6E8F8444FD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a:extLst>
              <a:ext uri="{FF2B5EF4-FFF2-40B4-BE49-F238E27FC236}">
                <a16:creationId xmlns:a16="http://schemas.microsoft.com/office/drawing/2014/main" id="{8F112770-CAFA-A0C6-41A1-C7866B0451B9}"/>
              </a:ext>
            </a:extLst>
          </p:cNvPr>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9</a:t>
            </a:fld>
            <a:endParaRPr lang="en-IN" dirty="0">
              <a:solidFill>
                <a:schemeClr val="bg1"/>
              </a:solidFill>
            </a:endParaRPr>
          </a:p>
        </p:txBody>
      </p:sp>
      <p:sp>
        <p:nvSpPr>
          <p:cNvPr id="45" name="Rectangle 40">
            <a:extLst>
              <a:ext uri="{FF2B5EF4-FFF2-40B4-BE49-F238E27FC236}">
                <a16:creationId xmlns:a16="http://schemas.microsoft.com/office/drawing/2014/main" id="{9CDD67D2-D18E-6397-6B0C-B7B5BEA04C6A}"/>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5" name="Picture 4">
            <a:extLst>
              <a:ext uri="{FF2B5EF4-FFF2-40B4-BE49-F238E27FC236}">
                <a16:creationId xmlns:a16="http://schemas.microsoft.com/office/drawing/2014/main" id="{2160B036-028E-75BF-2B13-BA266F3C1C7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7072" y="2108394"/>
            <a:ext cx="3489615" cy="2326030"/>
          </a:xfrm>
          <a:prstGeom prst="rect">
            <a:avLst/>
          </a:prstGeom>
          <a:noFill/>
          <a:ln>
            <a:solidFill>
              <a:schemeClr val="tx1"/>
            </a:solidFill>
          </a:ln>
        </p:spPr>
      </p:pic>
      <p:pic>
        <p:nvPicPr>
          <p:cNvPr id="4" name="Picture 3">
            <a:extLst>
              <a:ext uri="{FF2B5EF4-FFF2-40B4-BE49-F238E27FC236}">
                <a16:creationId xmlns:a16="http://schemas.microsoft.com/office/drawing/2014/main" id="{18025D3B-F35B-8284-B58A-72D4EB04BEA6}"/>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9302" t="14836" r="912" b="21425"/>
          <a:stretch>
            <a:fillRect/>
          </a:stretch>
        </p:blipFill>
        <p:spPr bwMode="auto">
          <a:xfrm>
            <a:off x="4385870" y="2390014"/>
            <a:ext cx="3951325" cy="18696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778081812"/>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43546-49DC-C6C6-1076-537C6B42AAB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3010A06-1088-99D8-C8D5-E1C1733CCF51}"/>
              </a:ext>
            </a:extLst>
          </p:cNvPr>
          <p:cNvSpPr>
            <a:spLocks noGrp="1"/>
          </p:cNvSpPr>
          <p:nvPr>
            <p:ph type="title"/>
          </p:nvPr>
        </p:nvSpPr>
        <p:spPr/>
        <p:txBody>
          <a:bodyPr/>
          <a:lstStyle/>
          <a:p>
            <a:r>
              <a:rPr lang="en-US" dirty="0"/>
              <a:t>rear</a:t>
            </a:r>
            <a:endParaRPr lang="en-IN" dirty="0"/>
          </a:p>
        </p:txBody>
      </p:sp>
      <p:sp>
        <p:nvSpPr>
          <p:cNvPr id="2" name="Slide Number Placeholder 1">
            <a:extLst>
              <a:ext uri="{FF2B5EF4-FFF2-40B4-BE49-F238E27FC236}">
                <a16:creationId xmlns:a16="http://schemas.microsoft.com/office/drawing/2014/main" id="{16F1D9A6-31CF-6A0C-21FC-57AFAE5C0A71}"/>
              </a:ext>
            </a:extLst>
          </p:cNvPr>
          <p:cNvSpPr>
            <a:spLocks noGrp="1"/>
          </p:cNvSpPr>
          <p:nvPr>
            <p:ph type="sldNum" sz="quarter" idx="12"/>
          </p:nvPr>
        </p:nvSpPr>
        <p:spPr/>
        <p:txBody>
          <a:bodyPr/>
          <a:lstStyle/>
          <a:p>
            <a:fld id="{08FC1071-F2DF-4CA9-AA63-FF97A16BD739}" type="slidenum">
              <a:rPr lang="en-IN" smtClean="0">
                <a:solidFill>
                  <a:schemeClr val="bg1"/>
                </a:solidFill>
              </a:rPr>
              <a:pPr/>
              <a:t>10</a:t>
            </a:fld>
            <a:endParaRPr lang="en-IN" dirty="0">
              <a:solidFill>
                <a:schemeClr val="bg1"/>
              </a:solidFill>
            </a:endParaRPr>
          </a:p>
        </p:txBody>
      </p:sp>
      <p:sp>
        <p:nvSpPr>
          <p:cNvPr id="485380" name="Rectangle 4">
            <a:extLst>
              <a:ext uri="{FF2B5EF4-FFF2-40B4-BE49-F238E27FC236}">
                <a16:creationId xmlns:a16="http://schemas.microsoft.com/office/drawing/2014/main" id="{C1D49DED-C0C3-9E0B-3156-A95DDAC13247}"/>
              </a:ext>
            </a:extLst>
          </p:cNvPr>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5381" name="Text Box 5">
            <a:extLst>
              <a:ext uri="{FF2B5EF4-FFF2-40B4-BE49-F238E27FC236}">
                <a16:creationId xmlns:a16="http://schemas.microsoft.com/office/drawing/2014/main" id="{84E574ED-5071-4AC3-BCD2-1061EDBCF269}"/>
              </a:ext>
            </a:extLst>
          </p:cNvPr>
          <p:cNvSpPr txBox="1">
            <a:spLocks noChangeArrowheads="1"/>
          </p:cNvSpPr>
          <p:nvPr/>
        </p:nvSpPr>
        <p:spPr bwMode="auto">
          <a:xfrm>
            <a:off x="188821" y="226367"/>
            <a:ext cx="61727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000" b="1" dirty="0">
                <a:solidFill>
                  <a:schemeClr val="bg1"/>
                </a:solidFill>
                <a:latin typeface="Calibri" pitchFamily="34" charset="0"/>
                <a:ea typeface="ＭＳ Ｐゴシック" pitchFamily="-28" charset="-128"/>
              </a:rPr>
              <a:t> 6. DD Diagrams </a:t>
            </a:r>
            <a:endParaRPr lang="en-US" sz="1600" b="1" dirty="0">
              <a:solidFill>
                <a:schemeClr val="bg1"/>
              </a:solidFill>
              <a:latin typeface="Calibri" pitchFamily="34" charset="0"/>
              <a:ea typeface="ＭＳ Ｐゴシック" pitchFamily="-28" charset="-128"/>
            </a:endParaRPr>
          </a:p>
        </p:txBody>
      </p:sp>
      <p:sp>
        <p:nvSpPr>
          <p:cNvPr id="485384" name="Rectangle 8">
            <a:extLst>
              <a:ext uri="{FF2B5EF4-FFF2-40B4-BE49-F238E27FC236}">
                <a16:creationId xmlns:a16="http://schemas.microsoft.com/office/drawing/2014/main" id="{7CF8B8A2-02D2-3DEB-1361-B81198851252}"/>
              </a:ext>
            </a:extLst>
          </p:cNvPr>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pic>
        <p:nvPicPr>
          <p:cNvPr id="485394" name="Picture 18" descr="Teerthanker Mahaveer University">
            <a:extLst>
              <a:ext uri="{FF2B5EF4-FFF2-40B4-BE49-F238E27FC236}">
                <a16:creationId xmlns:a16="http://schemas.microsoft.com/office/drawing/2014/main" id="{65CD1214-66C8-CF68-511F-B96DCDB212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a:extLst>
              <a:ext uri="{FF2B5EF4-FFF2-40B4-BE49-F238E27FC236}">
                <a16:creationId xmlns:a16="http://schemas.microsoft.com/office/drawing/2014/main" id="{09DAC942-E6D0-19D4-BE4F-D0A78CB5E584}"/>
              </a:ext>
            </a:extLst>
          </p:cNvPr>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10</a:t>
            </a:fld>
            <a:endParaRPr lang="en-IN" dirty="0">
              <a:solidFill>
                <a:schemeClr val="bg1"/>
              </a:solidFill>
            </a:endParaRPr>
          </a:p>
        </p:txBody>
      </p:sp>
      <p:sp>
        <p:nvSpPr>
          <p:cNvPr id="45" name="Rectangle 40">
            <a:extLst>
              <a:ext uri="{FF2B5EF4-FFF2-40B4-BE49-F238E27FC236}">
                <a16:creationId xmlns:a16="http://schemas.microsoft.com/office/drawing/2014/main" id="{AD559FAD-0B7B-6C09-DB3D-A1632FBF337C}"/>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a:extLst>
              <a:ext uri="{FF2B5EF4-FFF2-40B4-BE49-F238E27FC236}">
                <a16:creationId xmlns:a16="http://schemas.microsoft.com/office/drawing/2014/main" id="{FE01A7B8-782D-3FF6-CA8A-ED6688C813A4}"/>
              </a:ext>
            </a:extLst>
          </p:cNvPr>
          <p:cNvPicPr>
            <a:picLocks noChangeAspect="1"/>
          </p:cNvPicPr>
          <p:nvPr/>
        </p:nvPicPr>
        <p:blipFill rotWithShape="1">
          <a:blip r:embed="rId4">
            <a:extLst>
              <a:ext uri="{28A0092B-C50C-407E-A947-70E740481C1C}">
                <a14:useLocalDpi xmlns:a14="http://schemas.microsoft.com/office/drawing/2010/main" val="0"/>
              </a:ext>
            </a:extLst>
          </a:blip>
          <a:srcRect t="25605" b="30376"/>
          <a:stretch>
            <a:fillRect/>
          </a:stretch>
        </p:blipFill>
        <p:spPr bwMode="auto">
          <a:xfrm>
            <a:off x="467072" y="1516037"/>
            <a:ext cx="8380964" cy="36819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64221362"/>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dirty="0"/>
          </a:p>
        </p:txBody>
      </p:sp>
      <p:graphicFrame>
        <p:nvGraphicFramePr>
          <p:cNvPr id="6" name="Content Placeholder 5">
            <a:extLst>
              <a:ext uri="{FF2B5EF4-FFF2-40B4-BE49-F238E27FC236}">
                <a16:creationId xmlns:a16="http://schemas.microsoft.com/office/drawing/2014/main" id="{1A33CA55-3870-611E-F5D8-2C10C053230F}"/>
              </a:ext>
            </a:extLst>
          </p:cNvPr>
          <p:cNvGraphicFramePr>
            <a:graphicFrameLocks noGrp="1"/>
          </p:cNvGraphicFramePr>
          <p:nvPr>
            <p:ph idx="1"/>
            <p:extLst>
              <p:ext uri="{D42A27DB-BD31-4B8C-83A1-F6EECF244321}">
                <p14:modId xmlns:p14="http://schemas.microsoft.com/office/powerpoint/2010/main" val="3687698410"/>
              </p:ext>
            </p:extLst>
          </p:nvPr>
        </p:nvGraphicFramePr>
        <p:xfrm>
          <a:off x="467072" y="1047250"/>
          <a:ext cx="8065368" cy="4963757"/>
        </p:xfrm>
        <a:graphic>
          <a:graphicData uri="http://schemas.openxmlformats.org/drawingml/2006/table">
            <a:tbl>
              <a:tblPr/>
              <a:tblGrid>
                <a:gridCol w="4021482">
                  <a:extLst>
                    <a:ext uri="{9D8B030D-6E8A-4147-A177-3AD203B41FA5}">
                      <a16:colId xmlns:a16="http://schemas.microsoft.com/office/drawing/2014/main" val="2569486986"/>
                    </a:ext>
                  </a:extLst>
                </a:gridCol>
                <a:gridCol w="4043886">
                  <a:extLst>
                    <a:ext uri="{9D8B030D-6E8A-4147-A177-3AD203B41FA5}">
                      <a16:colId xmlns:a16="http://schemas.microsoft.com/office/drawing/2014/main" val="1574312239"/>
                    </a:ext>
                  </a:extLst>
                </a:gridCol>
              </a:tblGrid>
              <a:tr h="592387">
                <a:tc>
                  <a:txBody>
                    <a:bodyPr/>
                    <a:lstStyle/>
                    <a:p>
                      <a:pPr algn="ctr">
                        <a:lnSpc>
                          <a:spcPct val="150000"/>
                        </a:lnSpc>
                        <a:spcBef>
                          <a:spcPts val="1000"/>
                        </a:spcBef>
                        <a:buNone/>
                      </a:pPr>
                      <a:r>
                        <a:rPr lang="en-IN" sz="2000" b="1" dirty="0">
                          <a:solidFill>
                            <a:schemeClr val="tx1"/>
                          </a:solidFill>
                          <a:effectLst/>
                          <a:latin typeface="+mn-lt"/>
                          <a:ea typeface="Arial" panose="020B0604020202020204" pitchFamily="34" charset="0"/>
                        </a:rPr>
                        <a:t>Challenges</a:t>
                      </a:r>
                      <a:endParaRPr lang="en-IN" sz="1050" dirty="0">
                        <a:solidFill>
                          <a:schemeClr val="tx1"/>
                        </a:solidFill>
                        <a:effectLst/>
                        <a:latin typeface="+mn-lt"/>
                        <a:ea typeface="Arial" panose="020B0604020202020204" pitchFamily="34" charset="0"/>
                      </a:endParaRPr>
                    </a:p>
                  </a:txBody>
                  <a:tcPr marL="46595" marR="46595" marT="46595" marB="46595" anchor="b">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0D0D0D"/>
                      </a:solidFill>
                      <a:prstDash val="solid"/>
                      <a:round/>
                      <a:headEnd type="none" w="med" len="med"/>
                      <a:tailEnd type="none" w="med" len="med"/>
                    </a:lnB>
                    <a:noFill/>
                  </a:tcPr>
                </a:tc>
                <a:tc>
                  <a:txBody>
                    <a:bodyPr/>
                    <a:lstStyle/>
                    <a:p>
                      <a:pPr algn="ctr">
                        <a:lnSpc>
                          <a:spcPct val="150000"/>
                        </a:lnSpc>
                        <a:spcBef>
                          <a:spcPts val="1000"/>
                        </a:spcBef>
                        <a:buNone/>
                      </a:pPr>
                      <a:r>
                        <a:rPr lang="en-IN" sz="2000" b="1" dirty="0">
                          <a:solidFill>
                            <a:schemeClr val="tx1"/>
                          </a:solidFill>
                          <a:effectLst/>
                          <a:latin typeface="+mn-lt"/>
                          <a:ea typeface="Arial" panose="020B0604020202020204" pitchFamily="34" charset="0"/>
                        </a:rPr>
                        <a:t>Solution</a:t>
                      </a:r>
                      <a:endParaRPr lang="en-IN" sz="1600" dirty="0">
                        <a:solidFill>
                          <a:schemeClr val="tx1"/>
                        </a:solidFill>
                        <a:effectLst/>
                        <a:latin typeface="+mn-lt"/>
                        <a:ea typeface="Arial" panose="020B0604020202020204" pitchFamily="34" charset="0"/>
                      </a:endParaRPr>
                    </a:p>
                  </a:txBody>
                  <a:tcPr marL="46595" marR="46595" marT="46595" marB="46595" anchor="b">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0D0D0D"/>
                      </a:solidFill>
                      <a:prstDash val="solid"/>
                      <a:round/>
                      <a:headEnd type="none" w="med" len="med"/>
                      <a:tailEnd type="none" w="med" len="med"/>
                    </a:lnB>
                    <a:noFill/>
                  </a:tcPr>
                </a:tc>
                <a:extLst>
                  <a:ext uri="{0D108BD9-81ED-4DB2-BD59-A6C34878D82A}">
                    <a16:rowId xmlns:a16="http://schemas.microsoft.com/office/drawing/2014/main" val="235834896"/>
                  </a:ext>
                </a:extLst>
              </a:tr>
              <a:tr h="849687">
                <a:tc>
                  <a:txBody>
                    <a:bodyPr/>
                    <a:lstStyle/>
                    <a:p>
                      <a:pPr>
                        <a:lnSpc>
                          <a:spcPct val="150000"/>
                        </a:lnSpc>
                        <a:spcBef>
                          <a:spcPts val="1000"/>
                        </a:spcBef>
                        <a:buNone/>
                      </a:pPr>
                      <a:r>
                        <a:rPr lang="en-IN" sz="1800" dirty="0">
                          <a:effectLst/>
                          <a:latin typeface="+mn-lt"/>
                          <a:ea typeface="Arial" panose="020B0604020202020204" pitchFamily="34" charset="0"/>
                        </a:rPr>
                        <a:t>Handling complex database relationships</a:t>
                      </a:r>
                      <a:endParaRPr lang="en-IN" sz="1400" dirty="0">
                        <a:effectLst/>
                        <a:latin typeface="+mn-lt"/>
                        <a:ea typeface="Arial" panose="020B0604020202020204" pitchFamily="34" charset="0"/>
                      </a:endParaRPr>
                    </a:p>
                  </a:txBody>
                  <a:tcPr marL="46595" marR="46595" marT="46595" marB="46595" anchor="ctr">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0D0D0D"/>
                      </a:solidFill>
                      <a:prstDash val="solid"/>
                      <a:round/>
                      <a:headEnd type="none" w="med" len="med"/>
                      <a:tailEnd type="none" w="med" len="med"/>
                    </a:lnB>
                    <a:noFill/>
                  </a:tcPr>
                </a:tc>
                <a:tc>
                  <a:txBody>
                    <a:bodyPr/>
                    <a:lstStyle/>
                    <a:p>
                      <a:pPr>
                        <a:lnSpc>
                          <a:spcPct val="150000"/>
                        </a:lnSpc>
                        <a:spcBef>
                          <a:spcPts val="1000"/>
                        </a:spcBef>
                        <a:buNone/>
                      </a:pPr>
                      <a:r>
                        <a:rPr lang="en-IN" sz="1800" dirty="0">
                          <a:effectLst/>
                          <a:latin typeface="+mn-lt"/>
                          <a:ea typeface="Arial" panose="020B0604020202020204" pitchFamily="34" charset="0"/>
                        </a:rPr>
                        <a:t>Learned normalization techniques and optimized queries for performance</a:t>
                      </a:r>
                      <a:endParaRPr lang="en-IN" sz="1400" dirty="0">
                        <a:effectLst/>
                        <a:latin typeface="+mn-lt"/>
                        <a:ea typeface="Arial" panose="020B0604020202020204" pitchFamily="34" charset="0"/>
                      </a:endParaRPr>
                    </a:p>
                  </a:txBody>
                  <a:tcPr marL="46595" marR="46595" marT="46595" marB="46595" anchor="ctr">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0D0D0D"/>
                      </a:solidFill>
                      <a:prstDash val="solid"/>
                      <a:round/>
                      <a:headEnd type="none" w="med" len="med"/>
                      <a:tailEnd type="none" w="med" len="med"/>
                    </a:lnB>
                    <a:noFill/>
                  </a:tcPr>
                </a:tc>
                <a:extLst>
                  <a:ext uri="{0D108BD9-81ED-4DB2-BD59-A6C34878D82A}">
                    <a16:rowId xmlns:a16="http://schemas.microsoft.com/office/drawing/2014/main" val="2716706049"/>
                  </a:ext>
                </a:extLst>
              </a:tr>
              <a:tr h="905730">
                <a:tc>
                  <a:txBody>
                    <a:bodyPr/>
                    <a:lstStyle/>
                    <a:p>
                      <a:pPr>
                        <a:lnSpc>
                          <a:spcPct val="150000"/>
                        </a:lnSpc>
                        <a:spcBef>
                          <a:spcPts val="1000"/>
                        </a:spcBef>
                        <a:buNone/>
                      </a:pPr>
                      <a:r>
                        <a:rPr lang="en-IN" sz="1800" dirty="0">
                          <a:effectLst/>
                          <a:latin typeface="+mn-lt"/>
                          <a:ea typeface="Arial" panose="020B0604020202020204" pitchFamily="34" charset="0"/>
                        </a:rPr>
                        <a:t>Debugging authentication issues</a:t>
                      </a:r>
                      <a:endParaRPr lang="en-IN" sz="1400" dirty="0">
                        <a:effectLst/>
                        <a:latin typeface="+mn-lt"/>
                        <a:ea typeface="Arial" panose="020B0604020202020204" pitchFamily="34" charset="0"/>
                      </a:endParaRPr>
                    </a:p>
                  </a:txBody>
                  <a:tcPr marL="46595" marR="46595" marT="46595" marB="46595" anchor="ctr">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0D0D0D"/>
                      </a:solidFill>
                      <a:prstDash val="solid"/>
                      <a:round/>
                      <a:headEnd type="none" w="med" len="med"/>
                      <a:tailEnd type="none" w="med" len="med"/>
                    </a:lnB>
                    <a:noFill/>
                  </a:tcPr>
                </a:tc>
                <a:tc>
                  <a:txBody>
                    <a:bodyPr/>
                    <a:lstStyle/>
                    <a:p>
                      <a:pPr>
                        <a:lnSpc>
                          <a:spcPct val="150000"/>
                        </a:lnSpc>
                        <a:spcBef>
                          <a:spcPts val="1000"/>
                        </a:spcBef>
                        <a:buNone/>
                      </a:pPr>
                      <a:r>
                        <a:rPr lang="en-IN" sz="1800" dirty="0">
                          <a:effectLst/>
                          <a:latin typeface="+mn-lt"/>
                          <a:ea typeface="Arial" panose="020B0604020202020204" pitchFamily="34" charset="0"/>
                        </a:rPr>
                        <a:t>Referred to PHP session handling concepts and used step-by-step debugging</a:t>
                      </a:r>
                      <a:endParaRPr lang="en-IN" sz="1400" dirty="0">
                        <a:effectLst/>
                        <a:latin typeface="+mn-lt"/>
                        <a:ea typeface="Arial" panose="020B0604020202020204" pitchFamily="34" charset="0"/>
                      </a:endParaRPr>
                    </a:p>
                  </a:txBody>
                  <a:tcPr marL="46595" marR="46595" marT="46595" marB="46595" anchor="ctr">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0D0D0D"/>
                      </a:solidFill>
                      <a:prstDash val="solid"/>
                      <a:round/>
                      <a:headEnd type="none" w="med" len="med"/>
                      <a:tailEnd type="none" w="med" len="med"/>
                    </a:lnB>
                    <a:noFill/>
                  </a:tcPr>
                </a:tc>
                <a:extLst>
                  <a:ext uri="{0D108BD9-81ED-4DB2-BD59-A6C34878D82A}">
                    <a16:rowId xmlns:a16="http://schemas.microsoft.com/office/drawing/2014/main" val="3699473326"/>
                  </a:ext>
                </a:extLst>
              </a:tr>
              <a:tr h="1259281">
                <a:tc>
                  <a:txBody>
                    <a:bodyPr/>
                    <a:lstStyle/>
                    <a:p>
                      <a:pPr>
                        <a:lnSpc>
                          <a:spcPct val="150000"/>
                        </a:lnSpc>
                        <a:spcBef>
                          <a:spcPts val="1000"/>
                        </a:spcBef>
                        <a:buNone/>
                      </a:pPr>
                      <a:r>
                        <a:rPr lang="en-IN" sz="1800" dirty="0">
                          <a:effectLst/>
                          <a:latin typeface="+mn-lt"/>
                          <a:ea typeface="Arial" panose="020B0604020202020204" pitchFamily="34" charset="0"/>
                        </a:rPr>
                        <a:t>Adapting to company’s coding standards</a:t>
                      </a:r>
                      <a:endParaRPr lang="en-IN" sz="1400" dirty="0">
                        <a:effectLst/>
                        <a:latin typeface="+mn-lt"/>
                        <a:ea typeface="Arial" panose="020B0604020202020204" pitchFamily="34" charset="0"/>
                      </a:endParaRPr>
                    </a:p>
                  </a:txBody>
                  <a:tcPr marL="46595" marR="46595" marT="46595" marB="46595" anchor="ctr">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0D0D0D"/>
                      </a:solidFill>
                      <a:prstDash val="solid"/>
                      <a:round/>
                      <a:headEnd type="none" w="med" len="med"/>
                      <a:tailEnd type="none" w="med" len="med"/>
                    </a:lnB>
                    <a:noFill/>
                  </a:tcPr>
                </a:tc>
                <a:tc>
                  <a:txBody>
                    <a:bodyPr/>
                    <a:lstStyle/>
                    <a:p>
                      <a:pPr>
                        <a:lnSpc>
                          <a:spcPct val="150000"/>
                        </a:lnSpc>
                        <a:spcBef>
                          <a:spcPts val="1000"/>
                        </a:spcBef>
                        <a:buNone/>
                      </a:pPr>
                      <a:r>
                        <a:rPr lang="en-IN" sz="1800" dirty="0">
                          <a:effectLst/>
                          <a:latin typeface="+mn-lt"/>
                          <a:ea typeface="Arial" panose="020B0604020202020204" pitchFamily="34" charset="0"/>
                        </a:rPr>
                        <a:t>Studied their coding guidelines and followed structured documentation practices</a:t>
                      </a:r>
                      <a:endParaRPr lang="en-IN" sz="1400" dirty="0">
                        <a:effectLst/>
                        <a:latin typeface="+mn-lt"/>
                        <a:ea typeface="Arial" panose="020B0604020202020204" pitchFamily="34" charset="0"/>
                      </a:endParaRPr>
                    </a:p>
                  </a:txBody>
                  <a:tcPr marL="46595" marR="46595" marT="46595" marB="46595" anchor="ctr">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0D0D0D"/>
                      </a:solidFill>
                      <a:prstDash val="solid"/>
                      <a:round/>
                      <a:headEnd type="none" w="med" len="med"/>
                      <a:tailEnd type="none" w="med" len="med"/>
                    </a:lnB>
                    <a:noFill/>
                  </a:tcPr>
                </a:tc>
                <a:extLst>
                  <a:ext uri="{0D108BD9-81ED-4DB2-BD59-A6C34878D82A}">
                    <a16:rowId xmlns:a16="http://schemas.microsoft.com/office/drawing/2014/main" val="2355551221"/>
                  </a:ext>
                </a:extLst>
              </a:tr>
              <a:tr h="661662">
                <a:tc>
                  <a:txBody>
                    <a:bodyPr/>
                    <a:lstStyle/>
                    <a:p>
                      <a:pPr>
                        <a:lnSpc>
                          <a:spcPct val="150000"/>
                        </a:lnSpc>
                        <a:spcBef>
                          <a:spcPts val="1000"/>
                        </a:spcBef>
                        <a:buNone/>
                      </a:pPr>
                      <a:r>
                        <a:rPr lang="en-IN" sz="1800" dirty="0">
                          <a:effectLst/>
                          <a:latin typeface="+mn-lt"/>
                          <a:ea typeface="Arial" panose="020B0604020202020204" pitchFamily="34" charset="0"/>
                        </a:rPr>
                        <a:t>Managing time between tasks and deadlines</a:t>
                      </a:r>
                      <a:endParaRPr lang="en-IN" sz="1400" dirty="0">
                        <a:effectLst/>
                        <a:latin typeface="+mn-lt"/>
                        <a:ea typeface="Arial" panose="020B0604020202020204" pitchFamily="34" charset="0"/>
                      </a:endParaRPr>
                    </a:p>
                  </a:txBody>
                  <a:tcPr marL="46595" marR="46595" marT="46595" marB="46595" anchor="ctr">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0D0D0D"/>
                      </a:solidFill>
                      <a:prstDash val="solid"/>
                      <a:round/>
                      <a:headEnd type="none" w="med" len="med"/>
                      <a:tailEnd type="none" w="med" len="med"/>
                    </a:lnT>
                    <a:lnB>
                      <a:noFill/>
                    </a:lnB>
                    <a:noFill/>
                  </a:tcPr>
                </a:tc>
                <a:tc>
                  <a:txBody>
                    <a:bodyPr/>
                    <a:lstStyle/>
                    <a:p>
                      <a:pPr>
                        <a:lnSpc>
                          <a:spcPct val="150000"/>
                        </a:lnSpc>
                        <a:spcBef>
                          <a:spcPts val="1000"/>
                        </a:spcBef>
                        <a:buNone/>
                      </a:pPr>
                      <a:r>
                        <a:rPr lang="en-IN" sz="1800" dirty="0">
                          <a:effectLst/>
                          <a:latin typeface="+mn-lt"/>
                          <a:ea typeface="Arial" panose="020B0604020202020204" pitchFamily="34" charset="0"/>
                        </a:rPr>
                        <a:t>Prepared daily task lists and followed Agile-based work tracking</a:t>
                      </a:r>
                      <a:endParaRPr lang="en-IN" sz="1400" dirty="0">
                        <a:effectLst/>
                        <a:latin typeface="+mn-lt"/>
                        <a:ea typeface="Arial" panose="020B0604020202020204" pitchFamily="34" charset="0"/>
                      </a:endParaRPr>
                    </a:p>
                  </a:txBody>
                  <a:tcPr marL="46595" marR="46595" marT="46595" marB="46595" anchor="ctr">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0D0D0D"/>
                      </a:solidFill>
                      <a:prstDash val="solid"/>
                      <a:round/>
                      <a:headEnd type="none" w="med" len="med"/>
                      <a:tailEnd type="none" w="med" len="med"/>
                    </a:lnT>
                    <a:lnB>
                      <a:noFill/>
                    </a:lnB>
                    <a:noFill/>
                  </a:tcPr>
                </a:tc>
                <a:extLst>
                  <a:ext uri="{0D108BD9-81ED-4DB2-BD59-A6C34878D82A}">
                    <a16:rowId xmlns:a16="http://schemas.microsoft.com/office/drawing/2014/main" val="3348853248"/>
                  </a:ext>
                </a:extLst>
              </a:tr>
              <a:tr h="433345">
                <a:tc>
                  <a:txBody>
                    <a:bodyPr/>
                    <a:lstStyle/>
                    <a:p>
                      <a:pPr>
                        <a:lnSpc>
                          <a:spcPct val="150000"/>
                        </a:lnSpc>
                        <a:spcBef>
                          <a:spcPts val="1000"/>
                        </a:spcBef>
                        <a:buNone/>
                      </a:pPr>
                      <a:endParaRPr lang="en-IN" sz="900" dirty="0">
                        <a:effectLst/>
                        <a:latin typeface="+mn-lt"/>
                        <a:ea typeface="Arial" panose="020B0604020202020204" pitchFamily="34" charset="0"/>
                      </a:endParaRPr>
                    </a:p>
                  </a:txBody>
                  <a:tcPr marL="46595" marR="46595" marT="46595" marB="46595" anchor="ctr">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a:noFill/>
                    </a:lnT>
                    <a:lnB w="12700" cap="flat" cmpd="sng" algn="ctr">
                      <a:solidFill>
                        <a:srgbClr val="0D0D0D"/>
                      </a:solidFill>
                      <a:prstDash val="solid"/>
                      <a:round/>
                      <a:headEnd type="none" w="med" len="med"/>
                      <a:tailEnd type="none" w="med" len="med"/>
                    </a:lnB>
                    <a:noFill/>
                  </a:tcPr>
                </a:tc>
                <a:tc>
                  <a:txBody>
                    <a:bodyPr/>
                    <a:lstStyle/>
                    <a:p>
                      <a:pPr>
                        <a:lnSpc>
                          <a:spcPct val="150000"/>
                        </a:lnSpc>
                        <a:spcBef>
                          <a:spcPts val="1000"/>
                        </a:spcBef>
                        <a:buNone/>
                      </a:pPr>
                      <a:r>
                        <a:rPr lang="en-IN" sz="1050" dirty="0">
                          <a:effectLst/>
                          <a:latin typeface="+mn-lt"/>
                          <a:ea typeface="Arial" panose="020B0604020202020204" pitchFamily="34" charset="0"/>
                        </a:rPr>
                        <a:t> </a:t>
                      </a:r>
                      <a:endParaRPr lang="en-IN" sz="900" dirty="0">
                        <a:effectLst/>
                        <a:latin typeface="+mn-lt"/>
                        <a:ea typeface="Arial" panose="020B0604020202020204" pitchFamily="34" charset="0"/>
                      </a:endParaRPr>
                    </a:p>
                  </a:txBody>
                  <a:tcPr marL="46595" marR="46595" marT="46595" marB="46595" anchor="ctr">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a:noFill/>
                    </a:lnT>
                    <a:lnB w="12700" cap="flat" cmpd="sng" algn="ctr">
                      <a:solidFill>
                        <a:srgbClr val="0D0D0D"/>
                      </a:solidFill>
                      <a:prstDash val="solid"/>
                      <a:round/>
                      <a:headEnd type="none" w="med" len="med"/>
                      <a:tailEnd type="none" w="med" len="med"/>
                    </a:lnB>
                    <a:noFill/>
                  </a:tcPr>
                </a:tc>
                <a:extLst>
                  <a:ext uri="{0D108BD9-81ED-4DB2-BD59-A6C34878D82A}">
                    <a16:rowId xmlns:a16="http://schemas.microsoft.com/office/drawing/2014/main" val="2962668771"/>
                  </a:ext>
                </a:extLst>
              </a:tr>
            </a:tbl>
          </a:graphicData>
        </a:graphic>
      </p:graphicFrame>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11</a:t>
            </a:fld>
            <a:endParaRPr lang="en-IN" dirty="0">
              <a:solidFill>
                <a:schemeClr val="bg1"/>
              </a:solidFill>
            </a:endParaRPr>
          </a:p>
        </p:txBody>
      </p:sp>
      <p:sp>
        <p:nvSpPr>
          <p:cNvPr id="485380" name="Rectangle 4"/>
          <p:cNvSpPr>
            <a:spLocks noChangeArrowheads="1"/>
          </p:cNvSpPr>
          <p:nvPr/>
        </p:nvSpPr>
        <p:spPr bwMode="auto">
          <a:xfrm>
            <a:off x="0" y="-39975"/>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1" name="Text Box 5"/>
          <p:cNvSpPr txBox="1">
            <a:spLocks noChangeArrowheads="1"/>
          </p:cNvSpPr>
          <p:nvPr/>
        </p:nvSpPr>
        <p:spPr bwMode="auto">
          <a:xfrm>
            <a:off x="197532" y="263042"/>
            <a:ext cx="61727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b="1" dirty="0">
                <a:solidFill>
                  <a:schemeClr val="bg1"/>
                </a:solidFill>
                <a:latin typeface="Calibri" pitchFamily="34" charset="0"/>
                <a:ea typeface="ＭＳ Ｐゴシック" pitchFamily="-28" charset="-128"/>
              </a:rPr>
              <a:t>7.Challenges Encountered:</a:t>
            </a: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11</a:t>
            </a:fld>
            <a:endParaRPr lang="en-IN" dirty="0">
              <a:solidFill>
                <a:schemeClr val="bg1"/>
              </a:solidFill>
            </a:endParaRPr>
          </a:p>
        </p:txBody>
      </p:sp>
    </p:spTree>
    <p:extLst>
      <p:ext uri="{BB962C8B-B14F-4D97-AF65-F5344CB8AC3E}">
        <p14:creationId xmlns:p14="http://schemas.microsoft.com/office/powerpoint/2010/main" val="3429915934"/>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9A0E7-C339-AA02-6D37-2EC8DE32E08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4A43CD1-984D-98F4-83EE-C8B29FECC82F}"/>
              </a:ext>
            </a:extLst>
          </p:cNvPr>
          <p:cNvSpPr>
            <a:spLocks noGrp="1"/>
          </p:cNvSpPr>
          <p:nvPr>
            <p:ph type="title"/>
          </p:nvPr>
        </p:nvSpPr>
        <p:spPr/>
        <p:txBody>
          <a:bodyPr/>
          <a:lstStyle/>
          <a:p>
            <a:endParaRPr lang="en-IN" dirty="0"/>
          </a:p>
        </p:txBody>
      </p:sp>
      <p:sp>
        <p:nvSpPr>
          <p:cNvPr id="2" name="Slide Number Placeholder 1">
            <a:extLst>
              <a:ext uri="{FF2B5EF4-FFF2-40B4-BE49-F238E27FC236}">
                <a16:creationId xmlns:a16="http://schemas.microsoft.com/office/drawing/2014/main" id="{4C21FA51-4478-0CC8-E5B8-22A2E87FE074}"/>
              </a:ext>
            </a:extLst>
          </p:cNvPr>
          <p:cNvSpPr>
            <a:spLocks noGrp="1"/>
          </p:cNvSpPr>
          <p:nvPr>
            <p:ph type="sldNum" sz="quarter" idx="12"/>
          </p:nvPr>
        </p:nvSpPr>
        <p:spPr/>
        <p:txBody>
          <a:bodyPr/>
          <a:lstStyle/>
          <a:p>
            <a:fld id="{08FC1071-F2DF-4CA9-AA63-FF97A16BD739}" type="slidenum">
              <a:rPr lang="en-IN" smtClean="0">
                <a:solidFill>
                  <a:schemeClr val="bg1"/>
                </a:solidFill>
              </a:rPr>
              <a:pPr/>
              <a:t>12</a:t>
            </a:fld>
            <a:endParaRPr lang="en-IN" dirty="0">
              <a:solidFill>
                <a:schemeClr val="bg1"/>
              </a:solidFill>
            </a:endParaRPr>
          </a:p>
        </p:txBody>
      </p:sp>
      <p:sp>
        <p:nvSpPr>
          <p:cNvPr id="485380" name="Rectangle 4">
            <a:extLst>
              <a:ext uri="{FF2B5EF4-FFF2-40B4-BE49-F238E27FC236}">
                <a16:creationId xmlns:a16="http://schemas.microsoft.com/office/drawing/2014/main" id="{63E1E231-56A1-30CF-BE5F-0CEACF0C3F8D}"/>
              </a:ext>
            </a:extLst>
          </p:cNvPr>
          <p:cNvSpPr>
            <a:spLocks noChangeArrowheads="1"/>
          </p:cNvSpPr>
          <p:nvPr/>
        </p:nvSpPr>
        <p:spPr bwMode="auto">
          <a:xfrm>
            <a:off x="0" y="-39975"/>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1" name="Text Box 5">
            <a:extLst>
              <a:ext uri="{FF2B5EF4-FFF2-40B4-BE49-F238E27FC236}">
                <a16:creationId xmlns:a16="http://schemas.microsoft.com/office/drawing/2014/main" id="{70D1C463-D4D7-2CCC-580A-FCD5EC741EF3}"/>
              </a:ext>
            </a:extLst>
          </p:cNvPr>
          <p:cNvSpPr txBox="1">
            <a:spLocks noChangeArrowheads="1"/>
          </p:cNvSpPr>
          <p:nvPr/>
        </p:nvSpPr>
        <p:spPr bwMode="auto">
          <a:xfrm>
            <a:off x="233536" y="241765"/>
            <a:ext cx="6172712"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b="1" dirty="0">
                <a:solidFill>
                  <a:schemeClr val="bg1"/>
                </a:solidFill>
                <a:latin typeface="Calibri" pitchFamily="34" charset="0"/>
                <a:ea typeface="ＭＳ Ｐゴシック" pitchFamily="-28" charset="-128"/>
              </a:rPr>
              <a:t>8. Advantage of The Project</a:t>
            </a:r>
          </a:p>
          <a:p>
            <a:pPr>
              <a:spcBef>
                <a:spcPct val="50000"/>
              </a:spcBef>
            </a:pPr>
            <a:endParaRPr lang="en-US" b="1" dirty="0">
              <a:solidFill>
                <a:schemeClr val="bg1"/>
              </a:solidFill>
              <a:latin typeface="Calibri" pitchFamily="34" charset="0"/>
              <a:ea typeface="ＭＳ Ｐゴシック" pitchFamily="-28" charset="-128"/>
            </a:endParaRPr>
          </a:p>
        </p:txBody>
      </p:sp>
      <p:sp>
        <p:nvSpPr>
          <p:cNvPr id="485384" name="Rectangle 8">
            <a:extLst>
              <a:ext uri="{FF2B5EF4-FFF2-40B4-BE49-F238E27FC236}">
                <a16:creationId xmlns:a16="http://schemas.microsoft.com/office/drawing/2014/main" id="{7BAA1CC8-40AA-FDF0-8D0A-A3D28C130025}"/>
              </a:ext>
            </a:extLst>
          </p:cNvPr>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a:extLst>
              <a:ext uri="{FF2B5EF4-FFF2-40B4-BE49-F238E27FC236}">
                <a16:creationId xmlns:a16="http://schemas.microsoft.com/office/drawing/2014/main" id="{39222401-B645-E43C-7FB7-B56DCC4977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a:extLst>
              <a:ext uri="{FF2B5EF4-FFF2-40B4-BE49-F238E27FC236}">
                <a16:creationId xmlns:a16="http://schemas.microsoft.com/office/drawing/2014/main" id="{BAD75323-012B-A47D-68C7-A5B29D0D9943}"/>
              </a:ext>
            </a:extLst>
          </p:cNvPr>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12</a:t>
            </a:fld>
            <a:endParaRPr lang="en-IN" dirty="0">
              <a:solidFill>
                <a:schemeClr val="bg1"/>
              </a:solidFill>
            </a:endParaRPr>
          </a:p>
        </p:txBody>
      </p:sp>
      <p:sp>
        <p:nvSpPr>
          <p:cNvPr id="4" name="TextBox 3">
            <a:extLst>
              <a:ext uri="{FF2B5EF4-FFF2-40B4-BE49-F238E27FC236}">
                <a16:creationId xmlns:a16="http://schemas.microsoft.com/office/drawing/2014/main" id="{E137FC87-1C03-1F7B-7BEF-8F987815469F}"/>
              </a:ext>
            </a:extLst>
          </p:cNvPr>
          <p:cNvSpPr txBox="1"/>
          <p:nvPr/>
        </p:nvSpPr>
        <p:spPr>
          <a:xfrm>
            <a:off x="395064" y="1026595"/>
            <a:ext cx="8515400" cy="4801314"/>
          </a:xfrm>
          <a:prstGeom prst="rect">
            <a:avLst/>
          </a:prstGeom>
          <a:noFill/>
        </p:spPr>
        <p:txBody>
          <a:bodyPr wrap="square" rtlCol="0">
            <a:spAutoFit/>
          </a:bodyPr>
          <a:lstStyle/>
          <a:p>
            <a:r>
              <a:rPr lang="en-US" b="1" u="sng" dirty="0"/>
              <a:t>Simple and User-Friendly Interface</a:t>
            </a:r>
            <a:endParaRPr lang="en-IN" b="1" u="sng" dirty="0"/>
          </a:p>
          <a:p>
            <a:r>
              <a:rPr lang="en-US" dirty="0"/>
              <a:t>The platform is designed with simplicity in mind, allowing users to navigate easily without any technical difficulty. The clean layout ensures that users can focus on writing and managing their blogs rather than learning complex features. This makes the application suitable for beginners </a:t>
            </a:r>
          </a:p>
          <a:p>
            <a:r>
              <a:rPr lang="en-IN" b="1" u="sng" dirty="0"/>
              <a:t>Secure Authentication System</a:t>
            </a:r>
            <a:endParaRPr lang="en-IN" u="sng" dirty="0"/>
          </a:p>
          <a:p>
            <a:r>
              <a:rPr lang="en-IN" dirty="0"/>
              <a:t>BlogScript provides a secure login and signup system using </a:t>
            </a:r>
            <a:r>
              <a:rPr lang="en-IN" b="1" dirty="0"/>
              <a:t>password hashing techniques</a:t>
            </a:r>
            <a:r>
              <a:rPr lang="en-IN" dirty="0"/>
              <a:t>, which protects user credentials from unauthorized access. The password reset feature further enhances security by allowing users to safely recover their accounts without compromising data integrity.</a:t>
            </a:r>
          </a:p>
          <a:p>
            <a:r>
              <a:rPr lang="en-IN" b="1" u="sng" dirty="0"/>
              <a:t>Email Verification for Account Authenticity</a:t>
            </a:r>
            <a:endParaRPr lang="en-IN" u="sng" dirty="0"/>
          </a:p>
          <a:p>
            <a:r>
              <a:rPr lang="en-IN" dirty="0"/>
              <a:t>The inclusion of </a:t>
            </a:r>
            <a:r>
              <a:rPr lang="en-IN" b="1" dirty="0"/>
              <a:t>email verification</a:t>
            </a:r>
            <a:r>
              <a:rPr lang="en-IN" dirty="0"/>
              <a:t> ensures that only genuine users can create accounts. This helps prevent fake registrations, reduces spam, and increases the overall trustworthiness of the platform.</a:t>
            </a:r>
          </a:p>
          <a:p>
            <a:r>
              <a:rPr lang="en-IN" b="1" u="sng" dirty="0"/>
              <a:t>Complete Blog Management with CRUD Operations</a:t>
            </a:r>
            <a:endParaRPr lang="en-IN" u="sng" dirty="0"/>
          </a:p>
          <a:p>
            <a:r>
              <a:rPr lang="en-IN" b="1" u="sng" dirty="0"/>
              <a:t>Responsive Design</a:t>
            </a:r>
            <a:endParaRPr lang="en-IN" u="sng" dirty="0"/>
          </a:p>
          <a:p>
            <a:endParaRPr lang="en-IN" dirty="0"/>
          </a:p>
        </p:txBody>
      </p:sp>
    </p:spTree>
    <p:extLst>
      <p:ext uri="{BB962C8B-B14F-4D97-AF65-F5344CB8AC3E}">
        <p14:creationId xmlns:p14="http://schemas.microsoft.com/office/powerpoint/2010/main" val="4177352072"/>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dirty="0"/>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13</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1" name="Text Box 5"/>
          <p:cNvSpPr txBox="1">
            <a:spLocks noChangeArrowheads="1"/>
          </p:cNvSpPr>
          <p:nvPr/>
        </p:nvSpPr>
        <p:spPr bwMode="auto">
          <a:xfrm>
            <a:off x="250395" y="232073"/>
            <a:ext cx="61727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b="1" dirty="0">
                <a:solidFill>
                  <a:schemeClr val="bg1"/>
                </a:solidFill>
                <a:latin typeface="Calibri" pitchFamily="34" charset="0"/>
                <a:ea typeface="ＭＳ Ｐゴシック" pitchFamily="-28" charset="-128"/>
              </a:rPr>
              <a:t>9. Summary and Conclusion</a:t>
            </a: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13</a:t>
            </a:fld>
            <a:endParaRPr lang="en-IN" dirty="0">
              <a:solidFill>
                <a:schemeClr val="bg1"/>
              </a:solidFill>
            </a:endParaRPr>
          </a:p>
        </p:txBody>
      </p:sp>
      <p:sp>
        <p:nvSpPr>
          <p:cNvPr id="9" name="Content Placeholder 8">
            <a:extLst>
              <a:ext uri="{FF2B5EF4-FFF2-40B4-BE49-F238E27FC236}">
                <a16:creationId xmlns:a16="http://schemas.microsoft.com/office/drawing/2014/main" id="{0B0823A9-CFF7-BE82-7195-A40AF17278BB}"/>
              </a:ext>
            </a:extLst>
          </p:cNvPr>
          <p:cNvSpPr>
            <a:spLocks noGrp="1"/>
          </p:cNvSpPr>
          <p:nvPr>
            <p:ph idx="1"/>
          </p:nvPr>
        </p:nvSpPr>
        <p:spPr>
          <a:xfrm>
            <a:off x="250395" y="1484784"/>
            <a:ext cx="8460432" cy="4225165"/>
          </a:xfrm>
        </p:spPr>
        <p:txBody>
          <a:bodyPr>
            <a:normAutofit lnSpcReduction="10000"/>
          </a:bodyPr>
          <a:lstStyle/>
          <a:p>
            <a:pPr marL="358775" indent="0">
              <a:buNone/>
            </a:pPr>
            <a:r>
              <a:rPr lang="en-US" dirty="0"/>
              <a:t>BlogScript is a lightweight and efficient web application built on the </a:t>
            </a:r>
            <a:r>
              <a:rPr lang="en-US" b="1" dirty="0"/>
              <a:t>CRUD (Create, Read, Update, Delete)</a:t>
            </a:r>
            <a:r>
              <a:rPr lang="en-US" dirty="0"/>
              <a:t> model, giving users full control over their blogs. With a simple and responsive interface, it allows writers to:</a:t>
            </a:r>
          </a:p>
          <a:p>
            <a:pPr marL="358775" indent="0">
              <a:buNone/>
            </a:pPr>
            <a:endParaRPr lang="en-US" dirty="0"/>
          </a:p>
          <a:p>
            <a:pPr marL="400050" lvl="1" indent="0">
              <a:buNone/>
            </a:pPr>
            <a:r>
              <a:rPr lang="en-US" b="1" dirty="0"/>
              <a:t>Create</a:t>
            </a:r>
            <a:r>
              <a:rPr lang="en-US" dirty="0"/>
              <a:t> new blog posts with ease</a:t>
            </a:r>
          </a:p>
          <a:p>
            <a:pPr marL="400050" lvl="1" indent="0">
              <a:buNone/>
            </a:pPr>
            <a:r>
              <a:rPr lang="en-US" b="1" dirty="0"/>
              <a:t>Read</a:t>
            </a:r>
            <a:r>
              <a:rPr lang="en-US" dirty="0"/>
              <a:t> and explore articles through clean navigation</a:t>
            </a:r>
          </a:p>
          <a:p>
            <a:pPr marL="400050" lvl="1" indent="0">
              <a:buNone/>
            </a:pPr>
            <a:r>
              <a:rPr lang="en-US" b="1" dirty="0"/>
              <a:t>Update</a:t>
            </a:r>
            <a:r>
              <a:rPr lang="en-US" dirty="0"/>
              <a:t> existing content anytime</a:t>
            </a:r>
          </a:p>
          <a:p>
            <a:pPr marL="400050" lvl="1" indent="0">
              <a:buNone/>
            </a:pPr>
            <a:r>
              <a:rPr lang="en-US" b="1" dirty="0"/>
              <a:t>Delete</a:t>
            </a:r>
            <a:r>
              <a:rPr lang="en-US" dirty="0"/>
              <a:t> posts when no longer needed</a:t>
            </a:r>
          </a:p>
          <a:p>
            <a:pPr marL="400050" lvl="1" indent="0">
              <a:buNone/>
            </a:pPr>
            <a:r>
              <a:rPr lang="en-US" dirty="0"/>
              <a:t>Designed with scalability and SEO in mind, BlogScript is ideal for students, developers, and content creators who want a hands-on blogging experience while learning core web development concepts.</a:t>
            </a:r>
          </a:p>
          <a:p>
            <a:endParaRPr lang="en-IN" dirty="0"/>
          </a:p>
        </p:txBody>
      </p:sp>
    </p:spTree>
    <p:extLst>
      <p:ext uri="{BB962C8B-B14F-4D97-AF65-F5344CB8AC3E}">
        <p14:creationId xmlns:p14="http://schemas.microsoft.com/office/powerpoint/2010/main" val="2560928495"/>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14</a:t>
            </a:fld>
            <a:endParaRPr lang="en-IN" dirty="0">
              <a:solidFill>
                <a:schemeClr val="bg1"/>
              </a:solidFill>
            </a:endParaRPr>
          </a:p>
        </p:txBody>
      </p:sp>
      <p:sp>
        <p:nvSpPr>
          <p:cNvPr id="3" name="Title 2"/>
          <p:cNvSpPr>
            <a:spLocks noGrp="1"/>
          </p:cNvSpPr>
          <p:nvPr>
            <p:ph type="title" idx="4294967295"/>
          </p:nvPr>
        </p:nvSpPr>
        <p:spPr>
          <a:xfrm>
            <a:off x="-3175" y="0"/>
            <a:ext cx="9147175" cy="549275"/>
          </a:xfrm>
        </p:spPr>
        <p:txBody>
          <a:bodyPr/>
          <a:lstStyle/>
          <a:p>
            <a:r>
              <a:rPr lang="en-IN" dirty="0"/>
              <a:t>\</a:t>
            </a: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5381" name="Text Box 5"/>
          <p:cNvSpPr txBox="1">
            <a:spLocks noChangeArrowheads="1"/>
          </p:cNvSpPr>
          <p:nvPr/>
        </p:nvSpPr>
        <p:spPr bwMode="auto">
          <a:xfrm>
            <a:off x="18538" y="177542"/>
            <a:ext cx="61727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b="1" dirty="0">
                <a:solidFill>
                  <a:schemeClr val="bg1"/>
                </a:solidFill>
                <a:latin typeface="Calibri" pitchFamily="34" charset="0"/>
                <a:ea typeface="ＭＳ Ｐゴシック" pitchFamily="-28" charset="-128"/>
              </a:rPr>
              <a:t>   10.  Appendices</a:t>
            </a: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14</a:t>
            </a:fld>
            <a:endParaRPr lang="en-IN" dirty="0">
              <a:solidFill>
                <a:schemeClr val="bg1"/>
              </a:solidFill>
            </a:endParaRPr>
          </a:p>
        </p:txBody>
      </p:sp>
      <p:pic>
        <p:nvPicPr>
          <p:cNvPr id="9" name="Picture 8">
            <a:extLst>
              <a:ext uri="{FF2B5EF4-FFF2-40B4-BE49-F238E27FC236}">
                <a16:creationId xmlns:a16="http://schemas.microsoft.com/office/drawing/2014/main" id="{AE3D6073-9CDF-F261-CCA6-92246D5F78A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68144" y="2321246"/>
            <a:ext cx="945924" cy="1935445"/>
          </a:xfrm>
          <a:prstGeom prst="rect">
            <a:avLst/>
          </a:prstGeom>
        </p:spPr>
      </p:pic>
      <p:pic>
        <p:nvPicPr>
          <p:cNvPr id="11" name="Picture 10">
            <a:extLst>
              <a:ext uri="{FF2B5EF4-FFF2-40B4-BE49-F238E27FC236}">
                <a16:creationId xmlns:a16="http://schemas.microsoft.com/office/drawing/2014/main" id="{D661B88C-5FE6-3B2D-4A52-0493A0CD6A9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36296" y="2321246"/>
            <a:ext cx="1341536" cy="1804329"/>
          </a:xfrm>
          <a:prstGeom prst="rect">
            <a:avLst/>
          </a:prstGeom>
        </p:spPr>
      </p:pic>
      <p:pic>
        <p:nvPicPr>
          <p:cNvPr id="7" name="Picture 6">
            <a:extLst>
              <a:ext uri="{FF2B5EF4-FFF2-40B4-BE49-F238E27FC236}">
                <a16:creationId xmlns:a16="http://schemas.microsoft.com/office/drawing/2014/main" id="{C5596A31-1376-91CA-E4A6-F90D20BD8F2F}"/>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3519" r="97222">
                        <a14:foregroundMark x1="18426" y1="44815" x2="18426" y2="44815"/>
                        <a14:foregroundMark x1="20833" y1="26667" x2="20833" y2="26667"/>
                        <a14:foregroundMark x1="13611" y1="26667" x2="13611" y2="26667"/>
                        <a14:foregroundMark x1="9722" y1="27407" x2="9722" y2="27407"/>
                        <a14:foregroundMark x1="8796" y1="24074" x2="8796" y2="24074"/>
                        <a14:foregroundMark x1="12778" y1="28241" x2="12778" y2="28241"/>
                        <a14:foregroundMark x1="55185" y1="42315" x2="55185" y2="42315"/>
                        <a14:foregroundMark x1="67130" y1="44630" x2="67130" y2="44630"/>
                        <a14:foregroundMark x1="51481" y1="68148" x2="51296" y2="68519"/>
                        <a14:foregroundMark x1="58426" y1="61759" x2="58426" y2="61759"/>
                        <a14:foregroundMark x1="56852" y1="52593" x2="56852" y2="52593"/>
                        <a14:foregroundMark x1="56852" y1="50556" x2="58981" y2="49167"/>
                        <a14:foregroundMark x1="64907" y1="46481" x2="61296" y2="50556"/>
                        <a14:foregroundMark x1="69167" y1="45370" x2="62500" y2="48148"/>
                        <a14:foregroundMark x1="60741" y1="48796" x2="69444" y2="48056"/>
                        <a14:foregroundMark x1="69444" y1="48056" x2="61204" y2="46389"/>
                        <a14:foregroundMark x1="61204" y1="46389" x2="74722" y2="46759"/>
                        <a14:foregroundMark x1="74722" y1="46759" x2="59259" y2="48796"/>
                        <a14:foregroundMark x1="59259" y1="48796" x2="75463" y2="49074"/>
                        <a14:foregroundMark x1="75463" y1="49074" x2="61852" y2="46111"/>
                        <a14:foregroundMark x1="61852" y1="46111" x2="58981" y2="50556"/>
                        <a14:foregroundMark x1="3611" y1="41204" x2="3611" y2="41204"/>
                        <a14:foregroundMark x1="21852" y1="40741" x2="21852" y2="40741"/>
                        <a14:foregroundMark x1="57532" y1="59984" x2="52130" y2="59444"/>
                        <a14:foregroundMark x1="52130" y1="59444" x2="60370" y2="57315"/>
                        <a14:foregroundMark x1="60370" y1="57315" x2="50833" y2="58241"/>
                        <a14:foregroundMark x1="80741" y1="59167" x2="79167" y2="59167"/>
                        <a14:foregroundMark x1="67130" y1="58148" x2="74537" y2="56944"/>
                        <a14:foregroundMark x1="74537" y1="56944" x2="67870" y2="59722"/>
                        <a14:foregroundMark x1="67870" y1="59722" x2="50741" y2="59907"/>
                        <a14:foregroundMark x1="50741" y1="59907" x2="47685" y2="61852"/>
                        <a14:foregroundMark x1="45833" y1="62315" x2="38611" y2="59722"/>
                        <a14:foregroundMark x1="38611" y1="59722" x2="44537" y2="64074"/>
                        <a14:foregroundMark x1="44537" y1="64074" x2="44537" y2="64074"/>
                        <a14:foregroundMark x1="88981" y1="57222" x2="82593" y2="62407"/>
                        <a14:foregroundMark x1="82593" y1="62407" x2="79722" y2="62593"/>
                        <a14:foregroundMark x1="76667" y1="58426" x2="76389" y2="59537"/>
                        <a14:foregroundMark x1="90833" y1="33333" x2="55185" y2="36481"/>
                        <a14:foregroundMark x1="55185" y1="36481" x2="44352" y2="33704"/>
                        <a14:foregroundMark x1="44352" y1="33704" x2="54630" y2="34074"/>
                        <a14:foregroundMark x1="54630" y1="34074" x2="62963" y2="33241"/>
                        <a14:foregroundMark x1="62963" y1="33241" x2="72870" y2="34167"/>
                        <a14:foregroundMark x1="97222" y1="69259" x2="94815" y2="68981"/>
                        <a14:foregroundMark x1="22778" y1="28426" x2="30370" y2="29907"/>
                        <a14:foregroundMark x1="30370" y1="29907" x2="22870" y2="26944"/>
                        <a14:foregroundMark x1="22870" y1="26944" x2="16944" y2="31944"/>
                        <a14:foregroundMark x1="16944" y1="31944" x2="17963" y2="35093"/>
                        <a14:foregroundMark x1="76667" y1="58519" x2="72778" y2="60278"/>
                        <a14:foregroundMark x1="6204" y1="37870" x2="5093" y2="54537"/>
                        <a14:foregroundMark x1="27870" y1="34815" x2="19815" y2="33889"/>
                      </a14:backgroundRemoval>
                    </a14:imgEffect>
                  </a14:imgLayer>
                </a14:imgProps>
              </a:ext>
              <a:ext uri="{28A0092B-C50C-407E-A947-70E740481C1C}">
                <a14:useLocalDpi xmlns:a14="http://schemas.microsoft.com/office/drawing/2010/main" val="0"/>
              </a:ext>
            </a:extLst>
          </a:blip>
          <a:srcRect t="19973" b="20595"/>
          <a:stretch>
            <a:fillRect/>
          </a:stretch>
        </p:blipFill>
        <p:spPr>
          <a:xfrm>
            <a:off x="436240" y="1772816"/>
            <a:ext cx="5074972" cy="3016180"/>
          </a:xfrm>
          <a:prstGeom prst="rect">
            <a:avLst/>
          </a:prstGeom>
        </p:spPr>
      </p:pic>
    </p:spTree>
    <p:extLst>
      <p:ext uri="{BB962C8B-B14F-4D97-AF65-F5344CB8AC3E}">
        <p14:creationId xmlns:p14="http://schemas.microsoft.com/office/powerpoint/2010/main" val="2585641894"/>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15</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1" name="Text Box 5"/>
          <p:cNvSpPr txBox="1">
            <a:spLocks noChangeArrowheads="1"/>
          </p:cNvSpPr>
          <p:nvPr/>
        </p:nvSpPr>
        <p:spPr bwMode="auto">
          <a:xfrm>
            <a:off x="43978" y="173673"/>
            <a:ext cx="61727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b="1" dirty="0">
                <a:solidFill>
                  <a:schemeClr val="bg1"/>
                </a:solidFill>
                <a:latin typeface="Calibri" pitchFamily="34" charset="0"/>
                <a:ea typeface="ＭＳ Ｐゴシック" pitchFamily="-28" charset="-128"/>
              </a:rPr>
              <a:t>   1. Preview</a:t>
            </a: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15</a:t>
            </a:fld>
            <a:endParaRPr lang="en-IN" dirty="0">
              <a:solidFill>
                <a:schemeClr val="bg1"/>
              </a:solidFill>
            </a:endParaRPr>
          </a:p>
        </p:txBody>
      </p:sp>
      <p:pic>
        <p:nvPicPr>
          <p:cNvPr id="1026" name="Picture 2" descr="Fast Follower Versus First Mover Advantage - Holden Associates">
            <a:extLst>
              <a:ext uri="{FF2B5EF4-FFF2-40B4-BE49-F238E27FC236}">
                <a16:creationId xmlns:a16="http://schemas.microsoft.com/office/drawing/2014/main" id="{7499CD9D-52EA-8009-4604-7F982946A1D7}"/>
              </a:ext>
            </a:extLst>
          </p:cNvPr>
          <p:cNvPicPr>
            <a:picLocks noGrp="1" noChangeAspect="1" noChangeArrowheads="1"/>
          </p:cNvPicPr>
          <p:nvPr>
            <p:ph idx="1"/>
          </p:nvPr>
        </p:nvPicPr>
        <p:blipFill rotWithShape="1">
          <a:blip r:embed="rId4" cstate="print">
            <a:extLst>
              <a:ext uri="{28A0092B-C50C-407E-A947-70E740481C1C}">
                <a14:useLocalDpi xmlns:a14="http://schemas.microsoft.com/office/drawing/2010/main" val="0"/>
              </a:ext>
            </a:extLst>
          </a:blip>
          <a:srcRect l="10279" t="22368" r="13205" b="24338"/>
          <a:stretch>
            <a:fillRect/>
          </a:stretch>
        </p:blipFill>
        <p:spPr bwMode="auto">
          <a:xfrm>
            <a:off x="1255048" y="1556792"/>
            <a:ext cx="6408712" cy="297578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hlinkClick r:id="rId5"/>
            <a:extLst>
              <a:ext uri="{FF2B5EF4-FFF2-40B4-BE49-F238E27FC236}">
                <a16:creationId xmlns:a16="http://schemas.microsoft.com/office/drawing/2014/main" id="{DAFD97DD-0033-9C4E-3C11-BE829394F172}"/>
              </a:ext>
            </a:extLst>
          </p:cNvPr>
          <p:cNvSpPr txBox="1"/>
          <p:nvPr/>
        </p:nvSpPr>
        <p:spPr>
          <a:xfrm>
            <a:off x="1907704" y="3333272"/>
            <a:ext cx="3494317" cy="369332"/>
          </a:xfrm>
          <a:prstGeom prst="rect">
            <a:avLst/>
          </a:prstGeom>
          <a:noFill/>
        </p:spPr>
        <p:txBody>
          <a:bodyPr wrap="square" rtlCol="0">
            <a:spAutoFit/>
          </a:bodyPr>
          <a:lstStyle/>
          <a:p>
            <a:r>
              <a:rPr lang="en-IN" dirty="0"/>
              <a:t>https://blogscriptapp.free.nf/</a:t>
            </a:r>
          </a:p>
        </p:txBody>
      </p:sp>
    </p:spTree>
    <p:extLst>
      <p:ext uri="{BB962C8B-B14F-4D97-AF65-F5344CB8AC3E}">
        <p14:creationId xmlns:p14="http://schemas.microsoft.com/office/powerpoint/2010/main" val="2585641894"/>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C69BAE4-110F-E738-5A03-0F3DF3613ECB}"/>
              </a:ext>
            </a:extLst>
          </p:cNvPr>
          <p:cNvPicPr>
            <a:picLocks noChangeAspect="1"/>
          </p:cNvPicPr>
          <p:nvPr/>
        </p:nvPicPr>
        <p:blipFill>
          <a:blip r:embed="rId2"/>
          <a:stretch>
            <a:fillRect/>
          </a:stretch>
        </p:blipFill>
        <p:spPr>
          <a:xfrm>
            <a:off x="1387508" y="1523070"/>
            <a:ext cx="6368983" cy="3811860"/>
          </a:xfrm>
          <a:prstGeom prst="rect">
            <a:avLst/>
          </a:prstGeom>
        </p:spPr>
      </p:pic>
    </p:spTree>
    <p:extLst>
      <p:ext uri="{BB962C8B-B14F-4D97-AF65-F5344CB8AC3E}">
        <p14:creationId xmlns:p14="http://schemas.microsoft.com/office/powerpoint/2010/main" val="4040718866"/>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3269</TotalTime>
  <Words>982</Words>
  <Application>Microsoft Office PowerPoint</Application>
  <PresentationFormat>On-screen Show (4:3)</PresentationFormat>
  <Paragraphs>175</Paragraphs>
  <Slides>16</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Droid Sans Fallback</vt:lpstr>
      <vt:lpstr>Roboto</vt:lpstr>
      <vt:lpstr>Symbol</vt:lpstr>
      <vt:lpstr>Times New Roman</vt:lpstr>
      <vt:lpstr>Office Theme</vt:lpstr>
      <vt:lpstr> CRUD based Blog web application (BlogScript)  Summer Internship Report Presentation   Date: 29/12/2025</vt:lpstr>
      <vt:lpstr>PowerPoint Presentation</vt:lpstr>
      <vt:lpstr>PowerPoint Presentation</vt:lpstr>
      <vt:lpstr>PowerPoint Presentation</vt:lpstr>
      <vt:lpstr>PowerPoint Presentation</vt:lpstr>
      <vt:lpstr>PowerPoint Presentation</vt:lpstr>
      <vt:lpstr>PowerPoint Presentation</vt:lpstr>
      <vt:lpstr>rear</vt:lpstr>
      <vt:lpstr>rear</vt:lpstr>
      <vt:lpstr>rear</vt:lpstr>
      <vt:lpstr>PowerPoint Presentation</vt:lpstr>
      <vt:lpstr>PowerPoint Presentation</vt:lpstr>
      <vt:lpstr>PowerPoint Presentation</vt:lpstr>
      <vt:lpstr>\</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Rashmi Jain</dc:creator>
  <cp:lastModifiedBy>PANKAJ KUMAR DAS</cp:lastModifiedBy>
  <cp:revision>346</cp:revision>
  <dcterms:created xsi:type="dcterms:W3CDTF">2016-07-30T14:16:51Z</dcterms:created>
  <dcterms:modified xsi:type="dcterms:W3CDTF">2025-12-29T03:46:51Z</dcterms:modified>
</cp:coreProperties>
</file>